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8F8C752-C599-43E0-AF3E-0C5C76907463}">
  <a:tblStyle styleId="{D8F8C752-C599-43E0-AF3E-0C5C7690746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" name="Google Shape;3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1C7293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CFE3EE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914400" y="1691640"/>
            <a:ext cx="103601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LLOYD INSTITUTE OF ENGINEERING &amp; TECHNOLOGY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914400" y="2114821"/>
            <a:ext cx="1036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FE3EE"/>
              </a:buClr>
              <a:buSzPts val="1250"/>
              <a:buFont typeface="Calibri"/>
              <a:buNone/>
            </a:pPr>
            <a:r>
              <a:rPr b="0" i="0" lang="en-US" sz="1650" u="none" cap="none" strike="noStrike">
                <a:solidFill>
                  <a:srgbClr val="CFE3EE"/>
                </a:solidFill>
                <a:latin typeface="Calibri"/>
                <a:ea typeface="Calibri"/>
                <a:cs typeface="Calibri"/>
                <a:sym typeface="Calibri"/>
              </a:rPr>
              <a:t>Greater Noida  |  Department of Computer Science &amp; Engineering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914400" y="2715775"/>
            <a:ext cx="10360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FB6CE"/>
              </a:buClr>
              <a:buSzPts val="1200"/>
              <a:buFont typeface="Calibri"/>
              <a:buNone/>
            </a:pPr>
            <a:r>
              <a:rPr b="1" i="0" lang="en-US" sz="2000" u="none" cap="none" strike="noStrike">
                <a:solidFill>
                  <a:srgbClr val="6FB6CE"/>
                </a:solidFill>
                <a:latin typeface="Calibri"/>
                <a:ea typeface="Calibri"/>
                <a:cs typeface="Calibri"/>
                <a:sym typeface="Calibri"/>
              </a:rPr>
              <a:t>B.TECH FINAL YEAR MAJOR PROJECT  ·  BCS753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1280160" y="3200400"/>
            <a:ext cx="9628632" cy="1371600"/>
          </a:xfrm>
          <a:prstGeom prst="roundRect">
            <a:avLst>
              <a:gd fmla="val 8000" name="adj"/>
            </a:avLst>
          </a:pr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1463040" y="3200400"/>
            <a:ext cx="9262872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  <a:defRPr b="1" sz="2600">
                <a:solidFill>
                  <a:srgbClr val="0F172A"/>
                </a:solidFill>
              </a:defRPr>
            </a:pPr>
            <a:r>
              <a:t>EVIDENCE AND FRAMING AUDITOR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defRPr sz="1400" b="1">
                <a:solidFill>
                  <a:srgbClr val="4F46E5"/>
                </a:solidFill>
              </a:defRPr>
            </a:pPr>
            <a:r>
              <a:t>Automated Deception, Bias, and Epistemic Verification Architecture</a:t>
            </a:r>
          </a:p>
        </p:txBody>
      </p:sp>
      <p:sp>
        <p:nvSpPr>
          <p:cNvPr id="23" name="Google Shape;23;p3"/>
          <p:cNvSpPr/>
          <p:nvPr/>
        </p:nvSpPr>
        <p:spPr>
          <a:xfrm>
            <a:off x="914400" y="4709160"/>
            <a:ext cx="103601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FE3EE"/>
              </a:buClr>
              <a:buSzPts val="1300"/>
              <a:buFont typeface="Calibri"/>
              <a:buNone/>
            </a:pPr>
            <a:r>
              <a:rPr b="0" i="1" lang="en-US" sz="1500" u="none" cap="none" strike="noStrike">
                <a:solidFill>
                  <a:srgbClr val="CFE3EE"/>
                </a:solidFill>
                <a:latin typeface="Calibri"/>
                <a:ea typeface="Calibri"/>
                <a:cs typeface="Calibri"/>
                <a:sym typeface="Calibri"/>
              </a:rPr>
              <a:t>Project Presentation – I   |   Session 2026–27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" name="Google Shape;24;p3"/>
          <p:cNvCxnSpPr/>
          <p:nvPr/>
        </p:nvCxnSpPr>
        <p:spPr>
          <a:xfrm>
            <a:off x="6094476" y="5257800"/>
            <a:ext cx="0" cy="118872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3"/>
          <p:cNvSpPr/>
          <p:nvPr/>
        </p:nvSpPr>
        <p:spPr>
          <a:xfrm>
            <a:off x="914400" y="530352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B6CE"/>
              </a:buClr>
              <a:buSzPts val="1050"/>
              <a:buFont typeface="Calibri"/>
              <a:buNone/>
            </a:pPr>
            <a:r>
              <a:rPr b="1" i="0" lang="en-US" sz="1150" u="none" cap="none" strike="noStrike">
                <a:solidFill>
                  <a:srgbClr val="6FB6CE"/>
                </a:solidFill>
                <a:latin typeface="Calibri"/>
                <a:ea typeface="Calibri"/>
                <a:cs typeface="Calibri"/>
                <a:sym typeface="Calibri"/>
              </a:rPr>
              <a:t>GUIDE NAME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914400" y="5577840"/>
            <a:ext cx="4480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 b="1" sz="1300">
                <a:solidFill>
                  <a:srgbClr val="0F172A"/>
                </a:solidFill>
              </a:defRPr>
            </a:pPr>
            <a:r>
              <a:t>Dr. Devendra Gautam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914400" y="5989320"/>
            <a:ext cx="4480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3EE"/>
              </a:buClr>
              <a:buSzPts val="1100"/>
              <a:buFont typeface="Calibri"/>
              <a:buNone/>
              <a:defRPr sz="1100">
                <a:solidFill>
                  <a:srgbClr val="64748B"/>
                </a:solidFill>
              </a:defRPr>
            </a:pPr>
            <a:r>
              <a:t>Assistant Professor, Department of CSE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6766560" y="53035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B6CE"/>
              </a:buClr>
              <a:buSzPts val="1050"/>
              <a:buFont typeface="Calibri"/>
              <a:buNone/>
            </a:pPr>
            <a:r>
              <a:rPr b="1" i="0" lang="en-US" sz="1250" u="none" cap="none" strike="noStrike">
                <a:solidFill>
                  <a:srgbClr val="6FB6CE"/>
                </a:solidFill>
                <a:latin typeface="Calibri"/>
                <a:ea typeface="Calibri"/>
                <a:cs typeface="Calibri"/>
                <a:sym typeface="Calibri"/>
              </a:rPr>
              <a:t>SUBMITTED BY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6766560" y="5577840"/>
            <a:ext cx="45720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  <a:defRPr sz="1000">
                <a:solidFill>
                  <a:srgbClr val="0F172A"/>
                </a:solidFill>
              </a:defRPr>
            </a:pPr>
            <a:r>
              <a:t>1. Dev Rana Kaila (Lead)   —   Roll No. 2301531530023   —   Sec AIML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2. Shravan J. Poojary   —   Roll No. 2301721530022   —   Sec AIML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3. Snehil Shukla   —   Roll No. 2301721530023   —   Sec AIML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4. Shivansh Pandey   —   Roll No. 2301531530051   —   Sec AIML</a:t>
            </a:r>
          </a:p>
        </p:txBody>
      </p:sp>
      <p:pic>
        <p:nvPicPr>
          <p:cNvPr id="30" name="Google Shape;30;p3" title="LLOYD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91563" y="424800"/>
            <a:ext cx="1005835" cy="99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"/>
          <p:cNvSpPr/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1C729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21295C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502920" y="457200"/>
            <a:ext cx="530352" cy="530352"/>
          </a:xfrm>
          <a:prstGeom prst="roundRect">
            <a:avLst>
              <a:gd fmla="val 20690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502920" y="45720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1234440" y="4297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OVERVIEW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1234440" y="676656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Presentation Agenda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914400" y="1600200"/>
            <a:ext cx="420624" cy="42062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914400" y="160020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1536192" y="1581912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600"/>
              <a:buFont typeface="Calibri"/>
              <a:buNone/>
              <a:defRPr sz="1200" b="1">
                <a:solidFill>
                  <a:srgbClr val="0F172A"/>
                </a:solidFill>
              </a:defRPr>
            </a:pPr>
            <a:r>
              <a:t>📈  Motivation &amp; The Deception Crisis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914400" y="2258568"/>
            <a:ext cx="420624" cy="42062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914400" y="2258568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1536192" y="2240280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600"/>
              <a:buFont typeface="Calibri"/>
              <a:buNone/>
              <a:defRPr sz="1200" b="1">
                <a:solidFill>
                  <a:srgbClr val="0F172A"/>
                </a:solidFill>
              </a:defRPr>
            </a:pPr>
            <a:r>
              <a:t>🎯  Problem Statement &amp; Research Gaps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914400" y="2916936"/>
            <a:ext cx="420624" cy="42062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914400" y="2916936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1536192" y="2898648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600"/>
              <a:buFont typeface="Calibri"/>
              <a:buNone/>
              <a:defRPr sz="1200" b="1">
                <a:solidFill>
                  <a:srgbClr val="0F172A"/>
                </a:solidFill>
              </a:defRPr>
            </a:pPr>
            <a:r>
              <a:t>✅  Feasible &amp; Concrete Objectives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914400" y="3575304"/>
            <a:ext cx="420624" cy="42062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914400" y="3575304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1536192" y="3557016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600"/>
              <a:buFont typeface="Calibri"/>
              <a:buNone/>
              <a:defRPr sz="1200" b="1">
                <a:solidFill>
                  <a:srgbClr val="0F172A"/>
                </a:solidFill>
              </a:defRPr>
            </a:pPr>
            <a:r>
              <a:t>📚  Literature Survey &amp; SOTA Review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6309360" y="1600200"/>
            <a:ext cx="420624" cy="42062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6309360" y="160020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6931152" y="1581912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600"/>
              <a:buFont typeface="Calibri"/>
              <a:buNone/>
              <a:defRPr sz="1200" b="1">
                <a:solidFill>
                  <a:srgbClr val="0F172A"/>
                </a:solidFill>
              </a:defRPr>
            </a:pPr>
            <a:r>
              <a:t>🏗️  System Architecture &amp; Pipeline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6309360" y="2258568"/>
            <a:ext cx="420624" cy="42062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4"/>
          <p:cNvSpPr/>
          <p:nvPr/>
        </p:nvSpPr>
        <p:spPr>
          <a:xfrm>
            <a:off x="6309360" y="2258568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6931152" y="2240280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600"/>
              <a:buFont typeface="Calibri"/>
              <a:buNone/>
              <a:defRPr sz="1200" b="1">
                <a:solidFill>
                  <a:srgbClr val="0F172A"/>
                </a:solidFill>
              </a:defRPr>
            </a:pPr>
            <a:r>
              <a:t>🤖  ML Benchmarks, Tech Stack &amp; UI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6309360" y="2916936"/>
            <a:ext cx="420624" cy="42062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6309360" y="2916936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6931152" y="2898648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600"/>
              <a:buFont typeface="Calibri"/>
              <a:buNone/>
              <a:defRPr sz="1200" b="1">
                <a:solidFill>
                  <a:srgbClr val="0F172A"/>
                </a:solidFill>
              </a:defRPr>
            </a:pPr>
            <a:r>
              <a:t>📊  Evaluation-1 Status, Q&amp;A &amp; Refs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BCS753  ·  B.TECH MAJOR PROJECT PRESENTATION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11228832" y="651967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"/>
          <p:cNvSpPr/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1C729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21295C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502920" y="457200"/>
            <a:ext cx="530352" cy="530352"/>
          </a:xfrm>
          <a:prstGeom prst="roundRect">
            <a:avLst>
              <a:gd fmla="val 20690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502920" y="45720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t>01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1234440" y="4297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t>SECTION 01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1234440" y="676656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t>📈  Motivation: The Digital Deception Crisis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1234450" y="1543875"/>
            <a:ext cx="9849000" cy="4445400"/>
          </a:xfrm>
          <a:prstGeom prst="roundRect">
            <a:avLst>
              <a:gd fmla="val 2564" name="adj"/>
            </a:avLst>
          </a:prstGeom>
          <a:solidFill>
            <a:srgbClr val="FFFFFF"/>
          </a:solidFill>
          <a:ln cap="flat" cmpd="sng" w="12700">
            <a:solidFill>
              <a:srgbClr val="DEE4E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1554475" y="1772638"/>
            <a:ext cx="9106200" cy="42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1400"/>
              <a:buFont typeface="Calibri"/>
              <a:buNone/>
            </a:pP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BCS753  ·  B.TECH MAJOR PROJECT PRESENTATION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11228832" y="651967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Rounded Rectangle 79"/>
          <p:cNvSpPr/>
          <p:nvPr/>
        </p:nvSpPr>
        <p:spPr>
          <a:xfrm>
            <a:off x="1371600" y="1645920"/>
            <a:ext cx="2926080" cy="393192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1371600" y="1645920"/>
            <a:ext cx="2926080" cy="384048"/>
          </a:xfrm>
          <a:prstGeom prst="round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50">
                <a:solidFill>
                  <a:srgbClr val="FFFFFF"/>
                </a:solidFill>
              </a:defRPr>
            </a:pPr>
            <a:r>
              <a:t>📊  The Alarming Scale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481328" y="2084832"/>
            <a:ext cx="2706624" cy="34564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📌  UNESCO (2025): 67% of global internet users encounter deliberate misinformation.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📌  WEF Global Risks Report: Ranked Disinformation as #1 existential risk (2024–2026).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📌  MEITY India: Over 1.4 million URLs flagged for removal in 2024–25.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📌  AI-generated fake content cost has dropped to near zero — anyone can mass-produce it.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4572000" y="1645920"/>
            <a:ext cx="2926080" cy="3931920"/>
          </a:xfrm>
          <a:prstGeom prst="roundRect">
            <a:avLst/>
          </a:prstGeom>
          <a:solidFill>
            <a:srgbClr val="FFF1F2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4572000" y="1645920"/>
            <a:ext cx="2926080" cy="384048"/>
          </a:xfrm>
          <a:prstGeom prst="round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50">
                <a:solidFill>
                  <a:srgbClr val="FFFFFF"/>
                </a:solidFill>
              </a:defRPr>
            </a:pPr>
            <a:r>
              <a:t>💥  Real-World Impact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681728" y="2084832"/>
            <a:ext cx="2706624" cy="34564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🏥  Public Health: Vaccine denialism &amp; miracle cures directly cost lives.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💰  Financial Disruption: Fabricated corporate reports trigger stock crashes.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🗳️  Democratic Erosion: Coordinated campaigns polarize voting populations.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😨  Social Panic: Fear-mongering catastrophizing creates collective anxiety.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7772400" y="1645920"/>
            <a:ext cx="2926080" cy="3931920"/>
          </a:xfrm>
          <a:prstGeom prst="roundRect">
            <a:avLst/>
          </a:prstGeom>
          <a:solidFill>
            <a:srgbClr val="ECFE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7772400" y="1645920"/>
            <a:ext cx="2926080" cy="384048"/>
          </a:xfrm>
          <a:prstGeom prst="roundRect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50">
                <a:solidFill>
                  <a:srgbClr val="FFFFFF"/>
                </a:solidFill>
              </a:defRPr>
            </a:pPr>
            <a:r>
              <a:t>❌  Why Existing Tools Fail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82128" y="2084832"/>
            <a:ext cx="2706624" cy="34564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🚫  Keyword Blacklists: Trivially bypassed by sophisticated prose.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🤖  Black-Box LLMs / BERT: Opaque scores without verifiable reasoning.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📰  Static Publisher Ratings: Rate whole websites, missing article-level bias.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✅  Need: Transparent, explainable, multi-dimensional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"/>
          <p:cNvSpPr/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1C729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"/>
          <p:cNvSpPr/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21295C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6"/>
          <p:cNvSpPr/>
          <p:nvPr/>
        </p:nvSpPr>
        <p:spPr>
          <a:xfrm>
            <a:off x="502920" y="457200"/>
            <a:ext cx="530352" cy="530352"/>
          </a:xfrm>
          <a:prstGeom prst="roundRect">
            <a:avLst>
              <a:gd fmla="val 20690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6"/>
          <p:cNvSpPr/>
          <p:nvPr/>
        </p:nvSpPr>
        <p:spPr>
          <a:xfrm>
            <a:off x="502920" y="45720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t>03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1234440" y="4297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t>SECTION 03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1234440" y="676656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t>✅  Feasible &amp; Research-Worthy Project Objectives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1234415" y="1632220"/>
            <a:ext cx="4663500" cy="18288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DE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6"/>
          <p:cNvSpPr/>
          <p:nvPr/>
        </p:nvSpPr>
        <p:spPr>
          <a:xfrm>
            <a:off x="1463040" y="2286000"/>
            <a:ext cx="1005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8E8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C9D8E8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2423160" y="2107683"/>
            <a:ext cx="32919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300"/>
              <a:buFont typeface="Calibri"/>
              <a:buNone/>
              <a:defRPr b="1" sz="1100">
                <a:solidFill>
                  <a:srgbClr val="0F172A"/>
                </a:solidFill>
              </a:defRPr>
            </a:pPr>
            <a:r>
              <a:t>📊  Objective 1: Stylometric Profiling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defRPr sz="950">
                <a:solidFill>
                  <a:srgbClr val="64748B"/>
                </a:solidFill>
              </a:defRPr>
            </a:pPr>
            <a:r>
              <a:t>Extract 18+ mathematical metrics: TTR, Simpson's Index, FRE, FKGL, GFI, Subjectivity (S_idx) &amp; Hyperbole (EHF).</a:t>
            </a:r>
            <a:br/>
            <a:r>
              <a:t>✓  100% Implemented &amp; Tested.</a:t>
            </a:r>
          </a:p>
        </p:txBody>
      </p:sp>
      <p:sp>
        <p:nvSpPr>
          <p:cNvPr id="94" name="Google Shape;94;p6"/>
          <p:cNvSpPr/>
          <p:nvPr/>
        </p:nvSpPr>
        <p:spPr>
          <a:xfrm>
            <a:off x="6355055" y="1632220"/>
            <a:ext cx="4663500" cy="18288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DE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6"/>
          <p:cNvSpPr/>
          <p:nvPr/>
        </p:nvSpPr>
        <p:spPr>
          <a:xfrm>
            <a:off x="6583680" y="2286000"/>
            <a:ext cx="1005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8E8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C9D8E8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7543775" y="2016245"/>
            <a:ext cx="32919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300"/>
              <a:buFont typeface="Calibri"/>
              <a:buNone/>
              <a:defRPr b="1" sz="1100">
                <a:solidFill>
                  <a:srgbClr val="0F172A"/>
                </a:solidFill>
              </a:defRPr>
            </a:pPr>
            <a:r>
              <a:t>⚖️  Objective 2: Target-Stance Ideology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defRPr sz="950">
                <a:solidFill>
                  <a:srgbClr val="64748B"/>
                </a:solidFill>
              </a:defRPr>
            </a:pPr>
            <a:r>
              <a:t>Compute continuous 2D coordinates (Bias_x, Fact_y) on AllSides spectrum. Resolves Stance Inversion Flaw.</a:t>
            </a:r>
            <a:br/>
            <a:r>
              <a:t>✓  100% Implemented &amp; Tested.</a:t>
            </a:r>
          </a:p>
        </p:txBody>
      </p:sp>
      <p:sp>
        <p:nvSpPr>
          <p:cNvPr id="97" name="Google Shape;97;p6"/>
          <p:cNvSpPr/>
          <p:nvPr/>
        </p:nvSpPr>
        <p:spPr>
          <a:xfrm>
            <a:off x="1234440" y="4160520"/>
            <a:ext cx="4663440" cy="18288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DE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6"/>
          <p:cNvSpPr/>
          <p:nvPr/>
        </p:nvSpPr>
        <p:spPr>
          <a:xfrm>
            <a:off x="1463040" y="4343400"/>
            <a:ext cx="1005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8E8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C9D8E8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2423160" y="4389120"/>
            <a:ext cx="32918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300"/>
              <a:buFont typeface="Calibri"/>
              <a:buNone/>
              <a:defRPr b="1" sz="1100">
                <a:solidFill>
                  <a:srgbClr val="0F172A"/>
                </a:solidFill>
              </a:defRPr>
            </a:pPr>
            <a:r>
              <a:t>🧠  Objective 3: 8-Class Fallacy Scanner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defRPr sz="950">
                <a:solidFill>
                  <a:srgbClr val="64748B"/>
                </a:solidFill>
              </a:defRPr>
            </a:pPr>
            <a:r>
              <a:t>Detect 8 cognitive fallacy types (Ad Hominem, Fear, Phantom Authority, Conspiracy) with weighted FSI scoring.</a:t>
            </a:r>
            <a:br/>
            <a:r>
              <a:t>✓  100% Implemented &amp; Tested.</a:t>
            </a:r>
          </a:p>
        </p:txBody>
      </p:sp>
      <p:sp>
        <p:nvSpPr>
          <p:cNvPr id="100" name="Google Shape;100;p6"/>
          <p:cNvSpPr/>
          <p:nvPr/>
        </p:nvSpPr>
        <p:spPr>
          <a:xfrm>
            <a:off x="6355080" y="4160520"/>
            <a:ext cx="4663440" cy="18288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DE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6"/>
          <p:cNvSpPr/>
          <p:nvPr/>
        </p:nvSpPr>
        <p:spPr>
          <a:xfrm>
            <a:off x="6583680" y="4343400"/>
            <a:ext cx="1005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8E8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C9D8E8"/>
                </a:solidFill>
                <a:latin typeface="Cambria"/>
                <a:ea typeface="Cambria"/>
                <a:cs typeface="Cambria"/>
                <a:sym typeface="Cambria"/>
              </a:rPr>
              <a:t>04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7543800" y="4389120"/>
            <a:ext cx="32918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300"/>
              <a:buFont typeface="Calibri"/>
              <a:buNone/>
              <a:defRPr b="1" sz="1100">
                <a:solidFill>
                  <a:srgbClr val="0F172A"/>
                </a:solidFill>
              </a:defRPr>
            </a:pPr>
            <a:r>
              <a:t>🏛️  Objective 4: Grounding &amp; Stacking ML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defRPr sz="950">
                <a:solidFill>
                  <a:srgbClr val="64748B"/>
                </a:solidFill>
              </a:defRPr>
            </a:pPr>
            <a:r>
              <a:t>Line-level verification against WHO, NASA, IPCC, UNESCO &amp; Wikipedia API. Calibrated Stacking Ensemble achieving 98.33% accuracy.</a:t>
            </a:r>
            <a:br/>
            <a:r>
              <a:t>✓  100% Implemented &amp; Tested.</a:t>
            </a:r>
          </a:p>
        </p:txBody>
      </p:sp>
      <p:sp>
        <p:nvSpPr>
          <p:cNvPr id="103" name="Google Shape;103;p6"/>
          <p:cNvSpPr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BCS753  ·  B.TECH MAJOR PROJECT PRESENTATION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11228832" y="651967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7"/>
          <p:cNvSpPr/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21295C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7"/>
          <p:cNvSpPr/>
          <p:nvPr/>
        </p:nvSpPr>
        <p:spPr>
          <a:xfrm>
            <a:off x="502920" y="457200"/>
            <a:ext cx="530352" cy="530352"/>
          </a:xfrm>
          <a:prstGeom prst="roundRect">
            <a:avLst>
              <a:gd fmla="val 20690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"/>
          <p:cNvSpPr/>
          <p:nvPr/>
        </p:nvSpPr>
        <p:spPr>
          <a:xfrm>
            <a:off x="502920" y="45720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t>15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1234440" y="4297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t>SECTION 15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1234440" y="676656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t>⚙️  Technology Stack &amp; Implementation Environment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1234475" y="1543875"/>
            <a:ext cx="9849000" cy="4445400"/>
          </a:xfrm>
          <a:prstGeom prst="roundRect">
            <a:avLst>
              <a:gd fmla="val 2817" name="adj"/>
            </a:avLst>
          </a:prstGeom>
          <a:solidFill>
            <a:srgbClr val="FFFFFF"/>
          </a:solidFill>
          <a:ln cap="flat" cmpd="sng" w="12700">
            <a:solidFill>
              <a:srgbClr val="DE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7"/>
          <p:cNvSpPr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BCS753  ·  B.TECH MAJOR PROJECT PRESENTATION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11228832" y="651967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t>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Rounded Rectangle 117"/>
          <p:cNvSpPr/>
          <p:nvPr/>
        </p:nvSpPr>
        <p:spPr>
          <a:xfrm>
            <a:off x="1371600" y="1645920"/>
            <a:ext cx="4480560" cy="182880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ounded Rectangle 118"/>
          <p:cNvSpPr/>
          <p:nvPr/>
        </p:nvSpPr>
        <p:spPr>
          <a:xfrm>
            <a:off x="1371600" y="1645920"/>
            <a:ext cx="4480560" cy="384048"/>
          </a:xfrm>
          <a:prstGeom prst="round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50">
                <a:solidFill>
                  <a:srgbClr val="FFFFFF"/>
                </a:solidFill>
              </a:defRPr>
            </a:pPr>
            <a:r>
              <a:t>🐍  Languages &amp; Core Runtime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481328" y="2084832"/>
            <a:ext cx="4261104" cy="135331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Python 3.11+ (Conda 64-bit environment)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Git 2.52+ for rigorous version control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6217920" y="1645920"/>
            <a:ext cx="4480560" cy="1828800"/>
          </a:xfrm>
          <a:prstGeom prst="roundRect">
            <a:avLst/>
          </a:prstGeom>
          <a:solidFill>
            <a:srgbClr val="ECFE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ounded Rectangle 121"/>
          <p:cNvSpPr/>
          <p:nvPr/>
        </p:nvSpPr>
        <p:spPr>
          <a:xfrm>
            <a:off x="6217920" y="1645920"/>
            <a:ext cx="4480560" cy="384048"/>
          </a:xfrm>
          <a:prstGeom prst="roundRect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50">
                <a:solidFill>
                  <a:srgbClr val="FFFFFF"/>
                </a:solidFill>
              </a:defRPr>
            </a:pPr>
            <a:r>
              <a:t>📚  NLP &amp; Text Processing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327648" y="2084832"/>
            <a:ext cx="4261104" cy="135331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NLTK 3.9.2: WordNet lemmatizer, sentence splitters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TextBlob 0.19.0 + BeautifulSoup4 (DOM scraping)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1371600" y="3657600"/>
            <a:ext cx="4480560" cy="182880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ounded Rectangle 124"/>
          <p:cNvSpPr/>
          <p:nvPr/>
        </p:nvSpPr>
        <p:spPr>
          <a:xfrm>
            <a:off x="1371600" y="3657600"/>
            <a:ext cx="4480560" cy="384048"/>
          </a:xfrm>
          <a:prstGeom prst="round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50">
                <a:solidFill>
                  <a:srgbClr val="FFFFFF"/>
                </a:solidFill>
              </a:defRPr>
            </a:pPr>
            <a:r>
              <a:t>🤖  Machine Learning &amp; Data Science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481328" y="4096512"/>
            <a:ext cx="4261104" cy="135331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Scikit-Learn 1.8.0: TF-IDF, StandardScaler, Stacking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XGBoost 3.4.1 + NumPy &amp; Pandas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6217920" y="3657600"/>
            <a:ext cx="4480560" cy="18288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ounded Rectangle 127"/>
          <p:cNvSpPr/>
          <p:nvPr/>
        </p:nvSpPr>
        <p:spPr>
          <a:xfrm>
            <a:off x="6217920" y="3657600"/>
            <a:ext cx="4480560" cy="38404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50">
                <a:solidFill>
                  <a:srgbClr val="FFFFFF"/>
                </a:solidFill>
              </a:defRPr>
            </a:pPr>
            <a:r>
              <a:t>⚡  Web &amp; Live APIs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327648" y="4096512"/>
            <a:ext cx="4261104" cy="135331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Flask 3.0.0: RESTful microservice (Port 5001)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Wikipedia OpenSearch + BBC World RSS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"/>
          <p:cNvSpPr/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1C729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8"/>
          <p:cNvSpPr/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21295C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8"/>
          <p:cNvSpPr/>
          <p:nvPr/>
        </p:nvSpPr>
        <p:spPr>
          <a:xfrm>
            <a:off x="502920" y="457200"/>
            <a:ext cx="530352" cy="530352"/>
          </a:xfrm>
          <a:prstGeom prst="roundRect">
            <a:avLst>
              <a:gd fmla="val 20690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8"/>
          <p:cNvSpPr/>
          <p:nvPr/>
        </p:nvSpPr>
        <p:spPr>
          <a:xfrm>
            <a:off x="502920" y="45720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t>04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8"/>
          <p:cNvSpPr/>
          <p:nvPr/>
        </p:nvSpPr>
        <p:spPr>
          <a:xfrm>
            <a:off x="1234440" y="4297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t>SECTION 04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8"/>
          <p:cNvSpPr/>
          <p:nvPr/>
        </p:nvSpPr>
        <p:spPr>
          <a:xfrm>
            <a:off x="1234440" y="676656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t>📚  Literature Survey: SOTA Review (2024–2026)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9" name="Google Shape;129;p8"/>
          <p:cNvGraphicFramePr/>
          <p:nvPr/>
        </p:nvGraphicFramePr>
        <p:xfrm>
          <a:off x="1234440" y="16002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{D8F8C752-C599-43E0-AF3E-0C5C76907463}</a:tableStyleId>
              </a:tblPr>
              <a:tblGrid>
                <a:gridCol w="731525"/>
                <a:gridCol w="2743200"/>
                <a:gridCol w="2011675"/>
                <a:gridCol w="1737350"/>
                <a:gridCol w="2468875"/>
              </a:tblGrid>
              <a:tr h="804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S.No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Paper Title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Author(s)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Journal / Year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Key Findings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295C"/>
                    </a:solidFill>
                  </a:tcPr>
                </a:tc>
              </a:tr>
              <a:tr h="804675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[1]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MiLk-FD: Multiknowledge &amp; LLM Heterogeneous GNN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B. Xie, X. Ma et al.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IEEE TCSS 2025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Fuses Wikidata/DBpedia triples via TransE + LLaMA2 in HGNN; 81.2% acc on LIAR.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04675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[2]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ERIC-FND: External Info-Enhanced Contrastive Learning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B. Cao, Q. Wu et al.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AAAI 2025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Entity-enriched external knowledge verification with contrastive alignment; 94.6%.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6"/>
                    </a:solidFill>
                  </a:tcPr>
                </a:tc>
              </a:tr>
              <a:tr h="804675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[3]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MSynFD: Multi-Hop Syntax-Aware Detection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L. Xiao, Q. Zhang et al.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ACM WWW 2024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Syntactic dependency graph with keyword debiasing; +3.2% gain.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04675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[4]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PRISM: Interpretable Political Bias Embeddings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Y. Sun, Q. Huang et al.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ACL 2025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Political-aware cross-encoder mapping to AllSides spectrum.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6"/>
                    </a:solidFill>
                  </a:tcPr>
                </a:tc>
              </a:tr>
            </a:tbl>
          </a:graphicData>
        </a:graphic>
      </p:graphicFrame>
      <p:sp>
        <p:nvSpPr>
          <p:cNvPr id="130" name="Google Shape;130;p8"/>
          <p:cNvSpPr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BCS753  ·  B.TECH MAJOR PROJECT PRESENTATION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8"/>
          <p:cNvSpPr/>
          <p:nvPr/>
        </p:nvSpPr>
        <p:spPr>
          <a:xfrm>
            <a:off x="11228832" y="651967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"/>
          <p:cNvSpPr/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1C729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9"/>
          <p:cNvSpPr/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21295C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9"/>
          <p:cNvSpPr/>
          <p:nvPr/>
        </p:nvSpPr>
        <p:spPr>
          <a:xfrm>
            <a:off x="502920" y="457200"/>
            <a:ext cx="530352" cy="530352"/>
          </a:xfrm>
          <a:prstGeom prst="roundRect">
            <a:avLst>
              <a:gd fmla="val 20690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9"/>
          <p:cNvSpPr/>
          <p:nvPr/>
        </p:nvSpPr>
        <p:spPr>
          <a:xfrm>
            <a:off x="502920" y="45720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t>09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9"/>
          <p:cNvSpPr/>
          <p:nvPr/>
        </p:nvSpPr>
        <p:spPr>
          <a:xfrm>
            <a:off x="1234440" y="4297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t>SECTION 09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9"/>
          <p:cNvSpPr/>
          <p:nvPr/>
        </p:nvSpPr>
        <p:spPr>
          <a:xfrm>
            <a:off x="1234440" y="676656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t>🏗️  System Architecture: 5-Layer Telemetry Pipeline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9"/>
          <p:cNvSpPr/>
          <p:nvPr/>
        </p:nvSpPr>
        <p:spPr>
          <a:xfrm>
            <a:off x="1234450" y="1600200"/>
            <a:ext cx="9692700" cy="4585200"/>
          </a:xfrm>
          <a:prstGeom prst="roundRect">
            <a:avLst>
              <a:gd fmla="val 2198" name="adj"/>
            </a:avLst>
          </a:prstGeom>
          <a:solidFill>
            <a:srgbClr val="FFFFFF"/>
          </a:solidFill>
          <a:ln cap="flat" cmpd="sng" w="15875">
            <a:solidFill>
              <a:srgbClr val="DEE4E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9"/>
          <p:cNvSpPr/>
          <p:nvPr/>
        </p:nvSpPr>
        <p:spPr>
          <a:xfrm>
            <a:off x="1828800" y="2551422"/>
            <a:ext cx="8503800" cy="24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1600"/>
              <a:buFont typeface="Calibri"/>
              <a:buNone/>
            </a:pP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9"/>
          <p:cNvSpPr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BCS753  ·  B.TECH MAJOR PROJECT PRESENTATION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9"/>
          <p:cNvSpPr/>
          <p:nvPr/>
        </p:nvSpPr>
        <p:spPr>
          <a:xfrm>
            <a:off x="11228832" y="651967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t>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7" name="Picture 146" descr="system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34440"/>
            <a:ext cx="1124712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0"/>
          <p:cNvSpPr/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1C729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0"/>
          <p:cNvSpPr/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21295C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0"/>
          <p:cNvSpPr/>
          <p:nvPr/>
        </p:nvSpPr>
        <p:spPr>
          <a:xfrm>
            <a:off x="502920" y="457200"/>
            <a:ext cx="530352" cy="530352"/>
          </a:xfrm>
          <a:prstGeom prst="roundRect">
            <a:avLst>
              <a:gd fmla="val 20690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0"/>
          <p:cNvSpPr/>
          <p:nvPr/>
        </p:nvSpPr>
        <p:spPr>
          <a:xfrm>
            <a:off x="502920" y="45720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t>16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0"/>
          <p:cNvSpPr/>
          <p:nvPr/>
        </p:nvSpPr>
        <p:spPr>
          <a:xfrm>
            <a:off x="1234440" y="4297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t>SECTION 16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0"/>
          <p:cNvSpPr/>
          <p:nvPr/>
        </p:nvSpPr>
        <p:spPr>
          <a:xfrm>
            <a:off x="1234440" y="676656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t>📊  Evaluation-1 Status (26th Sept 2026)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0"/>
          <p:cNvSpPr/>
          <p:nvPr/>
        </p:nvSpPr>
        <p:spPr>
          <a:xfrm>
            <a:off x="1249640" y="1600190"/>
            <a:ext cx="9692700" cy="777300"/>
          </a:xfrm>
          <a:prstGeom prst="roundRect">
            <a:avLst>
              <a:gd fmla="val 10588" name="adj"/>
            </a:avLst>
          </a:prstGeom>
          <a:solidFill>
            <a:srgbClr val="FFFFFF"/>
          </a:solidFill>
          <a:ln cap="flat" cmpd="sng" w="12700">
            <a:solidFill>
              <a:srgbClr val="DE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0"/>
          <p:cNvSpPr/>
          <p:nvPr/>
        </p:nvSpPr>
        <p:spPr>
          <a:xfrm>
            <a:off x="1478240" y="1801358"/>
            <a:ext cx="384000" cy="3840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0"/>
          <p:cNvSpPr/>
          <p:nvPr/>
        </p:nvSpPr>
        <p:spPr>
          <a:xfrm>
            <a:off x="1478240" y="1801358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0"/>
          <p:cNvSpPr/>
          <p:nvPr/>
        </p:nvSpPr>
        <p:spPr>
          <a:xfrm>
            <a:off x="2072600" y="1600190"/>
            <a:ext cx="85953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400"/>
              <a:buFont typeface="Calibri"/>
              <a:buNone/>
            </a:pP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0"/>
          <p:cNvSpPr/>
          <p:nvPr/>
        </p:nvSpPr>
        <p:spPr>
          <a:xfrm>
            <a:off x="1249640" y="2560310"/>
            <a:ext cx="9692700" cy="777300"/>
          </a:xfrm>
          <a:prstGeom prst="roundRect">
            <a:avLst>
              <a:gd fmla="val 10588" name="adj"/>
            </a:avLst>
          </a:prstGeom>
          <a:solidFill>
            <a:srgbClr val="FFFFFF"/>
          </a:solidFill>
          <a:ln cap="flat" cmpd="sng" w="12700">
            <a:solidFill>
              <a:srgbClr val="DE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10"/>
          <p:cNvSpPr/>
          <p:nvPr/>
        </p:nvSpPr>
        <p:spPr>
          <a:xfrm>
            <a:off x="1478240" y="2761478"/>
            <a:ext cx="384000" cy="3840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10"/>
          <p:cNvSpPr/>
          <p:nvPr/>
        </p:nvSpPr>
        <p:spPr>
          <a:xfrm>
            <a:off x="1478240" y="2761478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0"/>
          <p:cNvSpPr/>
          <p:nvPr/>
        </p:nvSpPr>
        <p:spPr>
          <a:xfrm>
            <a:off x="2072600" y="2560310"/>
            <a:ext cx="85953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400"/>
              <a:buFont typeface="Calibri"/>
              <a:buNone/>
            </a:pP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0"/>
          <p:cNvSpPr/>
          <p:nvPr/>
        </p:nvSpPr>
        <p:spPr>
          <a:xfrm>
            <a:off x="1249640" y="3520430"/>
            <a:ext cx="9692700" cy="777300"/>
          </a:xfrm>
          <a:prstGeom prst="roundRect">
            <a:avLst>
              <a:gd fmla="val 10588" name="adj"/>
            </a:avLst>
          </a:prstGeom>
          <a:solidFill>
            <a:srgbClr val="FFFFFF"/>
          </a:solidFill>
          <a:ln cap="flat" cmpd="sng" w="12700">
            <a:solidFill>
              <a:srgbClr val="DE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10"/>
          <p:cNvSpPr/>
          <p:nvPr/>
        </p:nvSpPr>
        <p:spPr>
          <a:xfrm>
            <a:off x="1478240" y="3721598"/>
            <a:ext cx="384000" cy="3840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10"/>
          <p:cNvSpPr/>
          <p:nvPr/>
        </p:nvSpPr>
        <p:spPr>
          <a:xfrm>
            <a:off x="1478240" y="3721598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0"/>
          <p:cNvSpPr/>
          <p:nvPr/>
        </p:nvSpPr>
        <p:spPr>
          <a:xfrm>
            <a:off x="2072600" y="3520430"/>
            <a:ext cx="85953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400"/>
              <a:buFont typeface="Calibri"/>
              <a:buNone/>
            </a:pP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0"/>
          <p:cNvSpPr/>
          <p:nvPr/>
        </p:nvSpPr>
        <p:spPr>
          <a:xfrm>
            <a:off x="1249640" y="4480550"/>
            <a:ext cx="9692700" cy="777300"/>
          </a:xfrm>
          <a:prstGeom prst="roundRect">
            <a:avLst>
              <a:gd fmla="val 10588" name="adj"/>
            </a:avLst>
          </a:prstGeom>
          <a:solidFill>
            <a:srgbClr val="FFFFFF"/>
          </a:solidFill>
          <a:ln cap="flat" cmpd="sng" w="12700">
            <a:solidFill>
              <a:srgbClr val="DE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10"/>
          <p:cNvSpPr/>
          <p:nvPr/>
        </p:nvSpPr>
        <p:spPr>
          <a:xfrm>
            <a:off x="1478240" y="4681718"/>
            <a:ext cx="384000" cy="3840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10"/>
          <p:cNvSpPr/>
          <p:nvPr/>
        </p:nvSpPr>
        <p:spPr>
          <a:xfrm>
            <a:off x="1478240" y="4681718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0"/>
          <p:cNvSpPr/>
          <p:nvPr/>
        </p:nvSpPr>
        <p:spPr>
          <a:xfrm>
            <a:off x="2072600" y="4480550"/>
            <a:ext cx="85953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400"/>
              <a:buFont typeface="Calibri"/>
              <a:buNone/>
            </a:pP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0"/>
          <p:cNvSpPr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0"/>
          <p:cNvSpPr/>
          <p:nvPr/>
        </p:nvSpPr>
        <p:spPr>
          <a:xfrm>
            <a:off x="11228832" y="651967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t>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Rounded Rectangle 175"/>
          <p:cNvSpPr/>
          <p:nvPr/>
        </p:nvSpPr>
        <p:spPr>
          <a:xfrm>
            <a:off x="1371600" y="1645920"/>
            <a:ext cx="4480560" cy="393192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ounded Rectangle 176"/>
          <p:cNvSpPr/>
          <p:nvPr/>
        </p:nvSpPr>
        <p:spPr>
          <a:xfrm>
            <a:off x="1371600" y="1645920"/>
            <a:ext cx="4480560" cy="38404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50">
                <a:solidFill>
                  <a:srgbClr val="FFFFFF"/>
                </a:solidFill>
              </a:defRPr>
            </a:pPr>
            <a:r>
              <a:t>🟢  ✅  Week 1: COMPLETED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1481328" y="2084832"/>
            <a:ext cx="4261104" cy="34564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📌  Week 1 (19 Sep – 26 Sep) [EVALUATION-1]: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   ✔  Project selection &amp; guide allocation with Dr. Devendra Gautam.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   ✔  Title approved: 'Evidence and Framing Auditor'.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   ✔  Problem formulation &amp; 4 feasible objectives formalized.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   ✔  Literature Survey: 12+ SOTA papers (2024–2026).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   ✔  5-Layer Architecture &amp; Mathematical Foundations.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   ✔  Synopsis approved, Weekly Log verified, PPT ready.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🏆  REVIEW-01 (PROPOSAL &amp; PLANNING) → 100% SATISFIED.</a:t>
            </a:r>
          </a:p>
        </p:txBody>
      </p:sp>
      <p:sp>
        <p:nvSpPr>
          <p:cNvPr id="179" name="Rounded Rectangle 178"/>
          <p:cNvSpPr/>
          <p:nvPr/>
        </p:nvSpPr>
        <p:spPr>
          <a:xfrm>
            <a:off x="6217920" y="1645920"/>
            <a:ext cx="4480560" cy="393192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ounded Rectangle 179"/>
          <p:cNvSpPr/>
          <p:nvPr/>
        </p:nvSpPr>
        <p:spPr>
          <a:xfrm>
            <a:off x="6217920" y="1645920"/>
            <a:ext cx="4480560" cy="384048"/>
          </a:xfrm>
          <a:prstGeom prst="round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50">
                <a:solidFill>
                  <a:srgbClr val="FFFFFF"/>
                </a:solidFill>
              </a:defRPr>
            </a:pPr>
            <a:r>
              <a:t>📅  🔵  Weeks 2–10: PLANNED ROADMAP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6327648" y="2084832"/>
            <a:ext cx="4261104" cy="34564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Wk 2:  Corpus acquisition (LIAR, ISOT) &amp; preprocessing.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Wk 3:  Stylometrics extractor (18+ metrics: TTR, FRE).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Wk 4:  Target-Stance Analyzer (Bias_x, ABS).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Wk 5:  8-Class Fallacy Engine &amp; FSI scoring.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Wk 6:  Institutional Grounding (WHO, NASA, IPCC).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Wk 7:  Model Zoo training &amp; Stacking calibration.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Wk 8:  Flask REST API + live URL scraping &amp; RSS.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Wk 9:  Integration testing &amp; UI telemetry.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Wk 10: Final report, IEEE manuscript, defense.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1"/>
          <p:cNvSpPr/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1C729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1"/>
          <p:cNvSpPr/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21295C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1"/>
          <p:cNvSpPr/>
          <p:nvPr/>
        </p:nvSpPr>
        <p:spPr>
          <a:xfrm>
            <a:off x="502920" y="457200"/>
            <a:ext cx="530352" cy="530352"/>
          </a:xfrm>
          <a:prstGeom prst="roundRect">
            <a:avLst>
              <a:gd fmla="val 20690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1"/>
          <p:cNvSpPr/>
          <p:nvPr/>
        </p:nvSpPr>
        <p:spPr>
          <a:xfrm>
            <a:off x="502920" y="45720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t>18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1"/>
          <p:cNvSpPr/>
          <p:nvPr/>
        </p:nvSpPr>
        <p:spPr>
          <a:xfrm>
            <a:off x="1234440" y="4297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t>SECTION 18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1"/>
          <p:cNvSpPr/>
          <p:nvPr/>
        </p:nvSpPr>
        <p:spPr>
          <a:xfrm>
            <a:off x="1234440" y="676656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t>📄  References (IEEE / AKTU Format)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1"/>
          <p:cNvSpPr/>
          <p:nvPr/>
        </p:nvSpPr>
        <p:spPr>
          <a:xfrm>
            <a:off x="1249640" y="4563960"/>
            <a:ext cx="9692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1300"/>
              <a:buFont typeface="Calibri"/>
              <a:buNone/>
            </a:pPr>
            <a:r>
              <a:rPr i="1" lang="en-US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NOTE: </a:t>
            </a:r>
            <a:r>
              <a:rPr b="0" i="1" lang="en-US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All references must be cited in IEEE format</a:t>
            </a:r>
            <a:r>
              <a:rPr i="1" lang="en-US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1"/>
          <p:cNvSpPr/>
          <p:nvPr/>
        </p:nvSpPr>
        <p:spPr>
          <a:xfrm>
            <a:off x="1249650" y="1243575"/>
            <a:ext cx="9692700" cy="30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Clr>
                <a:srgbClr val="1B1F3B"/>
              </a:buClr>
              <a:buSzPts val="1300"/>
              <a:buFont typeface="Calibri"/>
              <a:buNone/>
              <a:defRPr sz="900">
                <a:solidFill>
                  <a:srgbClr val="0F172A"/>
                </a:solidFill>
              </a:defRPr>
            </a:pPr>
            <a:r>
              <a:t>[1]  B. Xie, X. Ma, and X. Shan, 'Multiknowledge and LLM-Inspired Heterogeneous Graph Neural Network for Fake News Detection,' IEEE Trans. Comput. Social Systems, vol. 12, no. 2, pp. 682–694, 2025.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Aft>
                <a:spcPts val="500"/>
              </a:spcAft>
              <a:defRPr sz="900">
                <a:solidFill>
                  <a:srgbClr val="0F172A"/>
                </a:solidFill>
              </a:defRPr>
            </a:pPr>
            <a:r>
              <a:t>[2]  B. Cao, Q. Wu, J. Cao, B. Liu, and J. Gui, 'External Reliable Information-enhanced Multimodal Contrastive Learning for Fake News Detection,' Proc. AAAI Conf. AI, vol. 39, pp. 31–39, 2025.</a:t>
            </a:r>
          </a:p>
          <a:p>
            <a:pPr>
              <a:spcAft>
                <a:spcPts val="500"/>
              </a:spcAft>
              <a:defRPr sz="900">
                <a:solidFill>
                  <a:srgbClr val="0F172A"/>
                </a:solidFill>
              </a:defRPr>
            </a:pPr>
            <a:r>
              <a:t>[3]  L. Xiao, Q. Zhang, C. Shi, S. Wang, U. Naseem, and L. Hu, 'MSynFD: Multi-Hop Syntax-Aware Fake News Detection,' Proc. ACM WWW '24, pp. 4112–4123, 2024.</a:t>
            </a:r>
          </a:p>
          <a:p>
            <a:pPr>
              <a:spcAft>
                <a:spcPts val="500"/>
              </a:spcAft>
              <a:defRPr sz="900">
                <a:solidFill>
                  <a:srgbClr val="0F172A"/>
                </a:solidFill>
              </a:defRPr>
            </a:pPr>
            <a:r>
              <a:t>[4]  D. Jurafsky and J. H. Martin, Speech and Language Processing, 3rd ed. Upper Saddle River, NJ: Prentice Hall, 2023.</a:t>
            </a:r>
          </a:p>
          <a:p>
            <a:pPr>
              <a:spcAft>
                <a:spcPts val="500"/>
              </a:spcAft>
              <a:defRPr sz="900">
                <a:solidFill>
                  <a:srgbClr val="0F172A"/>
                </a:solidFill>
              </a:defRPr>
            </a:pPr>
            <a:r>
              <a:t>[5]  World Health Organization (WHO), 'Cancer Fact Sheet,' 2025. [Online]. Available: https://www.who.int/news-room/fact-sheets/detail/cancer. [Accessed: 20-Sep-2026].</a:t>
            </a:r>
          </a:p>
        </p:txBody>
      </p:sp>
      <p:sp>
        <p:nvSpPr>
          <p:cNvPr id="189" name="Google Shape;189;p11"/>
          <p:cNvSpPr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BCS753  ·  B.TECH MAJOR PROJECT PRESENTATION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1"/>
          <p:cNvSpPr/>
          <p:nvPr/>
        </p:nvSpPr>
        <p:spPr>
          <a:xfrm>
            <a:off x="11228832" y="651967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t>20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2"/>
          <p:cNvSpPr/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1C7293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2"/>
          <p:cNvSpPr/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CFE3EE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2"/>
          <p:cNvSpPr/>
          <p:nvPr/>
        </p:nvSpPr>
        <p:spPr>
          <a:xfrm>
            <a:off x="914400" y="2468880"/>
            <a:ext cx="10360152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mbria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THANK YOU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2"/>
          <p:cNvSpPr/>
          <p:nvPr/>
        </p:nvSpPr>
        <p:spPr>
          <a:xfrm>
            <a:off x="914400" y="3520440"/>
            <a:ext cx="103601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FE3EE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CFE3EE"/>
                </a:solidFill>
                <a:latin typeface="Calibri"/>
                <a:ea typeface="Calibri"/>
                <a:cs typeface="Calibri"/>
                <a:sym typeface="Calibri"/>
              </a:rPr>
              <a:t>Questions &amp; suggestions are welcome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0" name="Google Shape;200;p12"/>
          <p:cNvCxnSpPr/>
          <p:nvPr/>
        </p:nvCxnSpPr>
        <p:spPr>
          <a:xfrm>
            <a:off x="5271516" y="4160520"/>
            <a:ext cx="1645920" cy="0"/>
          </a:xfrm>
          <a:prstGeom prst="straightConnector1">
            <a:avLst/>
          </a:prstGeom>
          <a:noFill/>
          <a:ln cap="flat" cmpd="sng" w="254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1" name="Google Shape;201;p12"/>
          <p:cNvSpPr/>
          <p:nvPr/>
        </p:nvSpPr>
        <p:spPr>
          <a:xfrm>
            <a:off x="915925" y="4559880"/>
            <a:ext cx="10360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FE3EE"/>
              </a:buClr>
              <a:buSzPts val="1100"/>
              <a:buFont typeface="Calibri"/>
              <a:buNone/>
              <a:defRPr b="1" sz="1200">
                <a:solidFill>
                  <a:srgbClr val="0F172A"/>
                </a:solidFill>
              </a:defRPr>
            </a:pPr>
            <a:r>
              <a:t>Department of Computer Science &amp; Engineering (AIML)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Lloyd Institute of Engineering &amp; Technology, Greater Noida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Affiliated to Dr. A.P.J. Abdul Kalam Technical University (AKTU), Lucknow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Project Guide: Dr. Devendra Gautam, Assistant Professor, CSE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Team: Dev Rana Kaila (Lead) | Shravan J. Poojary | Snehil Shukla | Shivansh Pandey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Major Project Evaluation - I | Date: 26th September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"/>
          <p:cNvSpPr/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1C729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21295C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502920" y="457200"/>
            <a:ext cx="530352" cy="530352"/>
          </a:xfrm>
          <a:prstGeom prst="roundRect">
            <a:avLst>
              <a:gd fmla="val 20690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502920" y="45720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  <a:defRPr sz="1300" b="1">
                <a:solidFill>
                  <a:srgbClr val="FFFFFF"/>
                </a:solidFill>
              </a:defRPr>
            </a:pPr>
            <a:r>
              <a:t>02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1234440" y="4297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  <a:defRPr sz="1100" b="1">
                <a:solidFill>
                  <a:srgbClr val="4F46E5"/>
                </a:solidFill>
              </a:defRPr>
            </a:pPr>
            <a:r>
              <a:t>SECTION 02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1234440" y="676656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  <a:defRPr sz="2000" b="1">
                <a:solidFill>
                  <a:srgbClr val="0F172A"/>
                </a:solidFill>
              </a:defRPr>
            </a:pPr>
            <a:r>
              <a:t>🎯  Problem Statement &amp; The 4 Critical Research Gaps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1234450" y="1543875"/>
            <a:ext cx="9849000" cy="4445400"/>
          </a:xfrm>
          <a:prstGeom prst="roundRect">
            <a:avLst>
              <a:gd fmla="val 2564" name="adj"/>
            </a:avLst>
          </a:prstGeom>
          <a:solidFill>
            <a:srgbClr val="FFFFFF"/>
          </a:solidFill>
          <a:ln cap="flat" cmpd="sng" w="12700">
            <a:solidFill>
              <a:srgbClr val="DEE4E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1554475" y="1772638"/>
            <a:ext cx="9106200" cy="42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1400"/>
              <a:buFont typeface="Calibri"/>
              <a:buNone/>
            </a:pP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BCS753  ·  B.TECH MAJOR PROJECT PRESENTATION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11228832" y="651967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  <a:defRPr sz="1000">
                <a:solidFill>
                  <a:srgbClr val="64748B"/>
                </a:solidFill>
              </a:defRPr>
            </a:pPr>
            <a: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Rounded Rectangle 79"/>
          <p:cNvSpPr/>
          <p:nvPr/>
        </p:nvSpPr>
        <p:spPr>
          <a:xfrm>
            <a:off x="1371600" y="1645920"/>
            <a:ext cx="4480560" cy="182880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1371600" y="1645920"/>
            <a:ext cx="4480560" cy="384048"/>
          </a:xfrm>
          <a:prstGeom prst="round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50">
                <a:solidFill>
                  <a:srgbClr val="FFFFFF"/>
                </a:solidFill>
              </a:defRPr>
            </a:pPr>
            <a:r>
              <a:t>🕳️  Gap 1: Black-Box Opacity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481328" y="2084832"/>
            <a:ext cx="4261104" cy="135331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Current DL models output raw probabilities without explainability.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Journalists cannot trust or defend automated decisions without mathematical audit trails.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➜  Our Solution: 12+ transparent mathematical formulas (ABS, FSI, Bias_x).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6217920" y="1645920"/>
            <a:ext cx="4480560" cy="182880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6217920" y="1645920"/>
            <a:ext cx="4480560" cy="384048"/>
          </a:xfrm>
          <a:prstGeom prst="round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50">
                <a:solidFill>
                  <a:srgbClr val="FFFFFF"/>
                </a:solidFill>
              </a:defRPr>
            </a:pPr>
            <a:r>
              <a:t>🔄  Gap 2: Stance Inversion Flaw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327648" y="2084832"/>
            <a:ext cx="4261104" cy="135331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Naive sentiment models confuse entity mentions with author stance.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Article attacking Left policies gets mis-labeled as 'Left-biased'.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➜  Our Solution: Target-Stance engine evaluates grammatical targets.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1371600" y="3657600"/>
            <a:ext cx="4480560" cy="1828800"/>
          </a:xfrm>
          <a:prstGeom prst="roundRect">
            <a:avLst/>
          </a:prstGeom>
          <a:solidFill>
            <a:srgbClr val="FFF1F2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1371600" y="3657600"/>
            <a:ext cx="4480560" cy="384048"/>
          </a:xfrm>
          <a:prstGeom prst="round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50">
                <a:solidFill>
                  <a:srgbClr val="FFFFFF"/>
                </a:solidFill>
              </a:defRPr>
            </a:pPr>
            <a:r>
              <a:t>🎭  Gap 3: Cognitive Fallacy Omission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481328" y="4096512"/>
            <a:ext cx="4261104" cy="135331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Deceptive content persuades via rhetorical tricks (Ad Hominem, Fear, False Dilemma).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Existing fact-checkers completely ignore these psychological triggers.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➜  Our Solution: 8-Class Fallacy Scanner with severity index (FSI).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6217920" y="3657600"/>
            <a:ext cx="4480560" cy="1828800"/>
          </a:xfrm>
          <a:prstGeom prst="roundRect">
            <a:avLst/>
          </a:prstGeom>
          <a:solidFill>
            <a:srgbClr val="ECFE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6217920" y="3657600"/>
            <a:ext cx="4480560" cy="384048"/>
          </a:xfrm>
          <a:prstGeom prst="roundRect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50">
                <a:solidFill>
                  <a:srgbClr val="FFFFFF"/>
                </a:solidFill>
              </a:defRPr>
            </a:pPr>
            <a:r>
              <a:t>🌐  Gap 4: Noisy Open-Web Grounding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327648" y="4096512"/>
            <a:ext cx="4261104" cy="135331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RAG-based tools search uncurated web, retrieving contradictory blogs.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No claim-by-claim verification against accredited institutional records.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➜  Our Solution: Line-level grounding against WHO, NASA, IPCC, UNESCO.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"/>
          <p:cNvSpPr/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1C729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21295C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502920" y="457200"/>
            <a:ext cx="530352" cy="530352"/>
          </a:xfrm>
          <a:prstGeom prst="roundRect">
            <a:avLst>
              <a:gd fmla="val 20690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502920" y="45720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  <a:defRPr sz="1300" b="1">
                <a:solidFill>
                  <a:srgbClr val="FFFFFF"/>
                </a:solidFill>
              </a:defRPr>
            </a:pPr>
            <a:r>
              <a:t>05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1234440" y="4297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  <a:defRPr sz="1100" b="1">
                <a:solidFill>
                  <a:srgbClr val="4F46E5"/>
                </a:solidFill>
              </a:defRPr>
            </a:pPr>
            <a:r>
              <a:t>SECTION 05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1234440" y="676656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  <a:defRPr sz="2000" b="1">
                <a:solidFill>
                  <a:srgbClr val="0F172A"/>
                </a:solidFill>
              </a:defRPr>
            </a:pPr>
            <a:r>
              <a:t>📐  Mathematical Foundations: Core Formulas &amp; Metrics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1234450" y="1543875"/>
            <a:ext cx="9849000" cy="4445400"/>
          </a:xfrm>
          <a:prstGeom prst="roundRect">
            <a:avLst>
              <a:gd fmla="val 2564" name="adj"/>
            </a:avLst>
          </a:prstGeom>
          <a:solidFill>
            <a:srgbClr val="FFFFFF"/>
          </a:solidFill>
          <a:ln cap="flat" cmpd="sng" w="12700">
            <a:solidFill>
              <a:srgbClr val="DEE4E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1554475" y="1772638"/>
            <a:ext cx="9106200" cy="42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1400"/>
              <a:buFont typeface="Calibri"/>
              <a:buNone/>
            </a:pP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BCS753  ·  B.TECH MAJOR PROJECT PRESENTATION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11228832" y="651967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  <a:defRPr sz="1000">
                <a:solidFill>
                  <a:srgbClr val="64748B"/>
                </a:solidFill>
              </a:defRPr>
            </a:pPr>
            <a: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Rounded Rectangle 79"/>
          <p:cNvSpPr/>
          <p:nvPr/>
        </p:nvSpPr>
        <p:spPr>
          <a:xfrm>
            <a:off x="1371600" y="1645920"/>
            <a:ext cx="2926080" cy="393192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1371600" y="1645920"/>
            <a:ext cx="2926080" cy="384048"/>
          </a:xfrm>
          <a:prstGeom prst="round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50">
                <a:solidFill>
                  <a:srgbClr val="FFFFFF"/>
                </a:solidFill>
              </a:defRPr>
            </a:pPr>
            <a:r>
              <a:t>📈  Vocabulary Diversity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481328" y="2084832"/>
            <a:ext cx="2706624" cy="34564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▸  Type-Token Ratio (TTR):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   TTR = |V| / N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   Higher vocabulary richness → verified reporting.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▸  Simpson's Diversity Index (D):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   D = 1 − Σ n_i(n_i−1) / N(N−1)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▸  Hapax Legomena Ratio: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   Words occurring exactly once (genuine prose signal).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4572000" y="1645920"/>
            <a:ext cx="2926080" cy="3931920"/>
          </a:xfrm>
          <a:prstGeom prst="roundRect">
            <a:avLst/>
          </a:prstGeom>
          <a:solidFill>
            <a:srgbClr val="ECFE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4572000" y="1645920"/>
            <a:ext cx="2926080" cy="384048"/>
          </a:xfrm>
          <a:prstGeom prst="roundRect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50">
                <a:solidFill>
                  <a:srgbClr val="FFFFFF"/>
                </a:solidFill>
              </a:defRPr>
            </a:pPr>
            <a:r>
              <a:t>📖  Readability Scores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681728" y="2084832"/>
            <a:ext cx="2706624" cy="34564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▸  Flesch Reading Ease (FRE):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   FRE = 206.835 − 1.015(W/S) − 84.6(Syl/W)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   Deceptive content targets FRE &gt; 70 for viral spread.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▸  Flesch-Kincaid Grade Level: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   FKGL = 0.39(W/S) + 11.8(Syl/W) − 15.59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▸  Gunning Fog Index (GFI):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   GFI = 0.4[(W/S) + 100(CW/W)]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▸  Punctuation Entropy (H_punc):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   H = −Σ p_i · log₂(p_i)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7772400" y="1645920"/>
            <a:ext cx="2926080" cy="393192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7772400" y="1645920"/>
            <a:ext cx="2926080" cy="384048"/>
          </a:xfrm>
          <a:prstGeom prst="round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50">
                <a:solidFill>
                  <a:srgbClr val="FFFFFF"/>
                </a:solidFill>
              </a:defRPr>
            </a:pPr>
            <a:r>
              <a:t>🎭  Author Tone &amp; Bias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82128" y="2084832"/>
            <a:ext cx="2706624" cy="34564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▸  Subjectivity Index (S_idx):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   S_idx = (1/|S|) Σ Subj(s_i) ∈ [0, 1]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▸  Emotional Hyperbole Factor: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   EHF = min(1, [Intens + 1.5·Sens]/N · 8)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▸  Hedging Ratio (HUR):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   HUR = min(1, Hedges / 0.8|S|)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▸  Author Bias Score: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   ABS = 100·[0.25S + 0.25EHF + 0.2APD + 0.15HUR + 0.15Δ_TB]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"/>
          <p:cNvSpPr/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1C729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21295C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502920" y="457200"/>
            <a:ext cx="530352" cy="530352"/>
          </a:xfrm>
          <a:prstGeom prst="roundRect">
            <a:avLst>
              <a:gd fmla="val 20690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502920" y="45720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  <a:defRPr sz="1300" b="1">
                <a:solidFill>
                  <a:srgbClr val="FFFFFF"/>
                </a:solidFill>
              </a:defRPr>
            </a:pPr>
            <a:r>
              <a:t>06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1234440" y="4297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  <a:defRPr sz="1100" b="1">
                <a:solidFill>
                  <a:srgbClr val="4F46E5"/>
                </a:solidFill>
              </a:defRPr>
            </a:pPr>
            <a:r>
              <a:t>SECTION 06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1234440" y="676656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  <a:defRPr sz="2000" b="1">
                <a:solidFill>
                  <a:srgbClr val="0F172A"/>
                </a:solidFill>
              </a:defRPr>
            </a:pPr>
            <a:r>
              <a:t>⚖️  Novelty 1: Target-Stance Ideological Spectrum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1234450" y="1543875"/>
            <a:ext cx="9849000" cy="4445400"/>
          </a:xfrm>
          <a:prstGeom prst="roundRect">
            <a:avLst>
              <a:gd fmla="val 2564" name="adj"/>
            </a:avLst>
          </a:prstGeom>
          <a:solidFill>
            <a:srgbClr val="FFFFFF"/>
          </a:solidFill>
          <a:ln cap="flat" cmpd="sng" w="12700">
            <a:solidFill>
              <a:srgbClr val="DEE4E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1554475" y="1772638"/>
            <a:ext cx="9106200" cy="42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1400"/>
              <a:buFont typeface="Calibri"/>
              <a:buNone/>
            </a:pP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BCS753  ·  B.TECH MAJOR PROJECT PRESENTATION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11228832" y="651967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  <a:defRPr sz="1000">
                <a:solidFill>
                  <a:srgbClr val="64748B"/>
                </a:solidFill>
              </a:defRPr>
            </a:pPr>
            <a: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Rounded Rectangle 79"/>
          <p:cNvSpPr/>
          <p:nvPr/>
        </p:nvSpPr>
        <p:spPr>
          <a:xfrm>
            <a:off x="1371600" y="1645920"/>
            <a:ext cx="4480560" cy="393192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1371600" y="1645920"/>
            <a:ext cx="4480560" cy="384048"/>
          </a:xfrm>
          <a:prstGeom prst="round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50">
                <a:solidFill>
                  <a:srgbClr val="FFFFFF"/>
                </a:solidFill>
              </a:defRPr>
            </a:pPr>
            <a:r>
              <a:t>🔄  The Stance Inversion Problem &amp; Solution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481328" y="2084832"/>
            <a:ext cx="4261104" cy="34564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❌  THE FLAW IN EXISTING MODELS: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   Naive models: detect 'left' + negative = Left-Biased (WRONG)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   An article attacking 'the radical left' is actually RIGHT-leaning.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✅  OUR TARGET-STANCE SOLUTION: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   ➜  Identify grammatical TARGET of attack modifiers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   ➜  Criticism of Left / Praise of Right = RIGHT (Bias_x &gt; 0)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   ➜  Criticism of Right / Praise of Left = LEFT (Bias_x &lt; 0)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   ➜  Plain-English stance summary for users.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6217920" y="1645920"/>
            <a:ext cx="4480560" cy="393192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6217920" y="1645920"/>
            <a:ext cx="4480560" cy="384048"/>
          </a:xfrm>
          <a:prstGeom prst="round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50">
                <a:solidFill>
                  <a:srgbClr val="FFFFFF"/>
                </a:solidFill>
              </a:defRPr>
            </a:pPr>
            <a:r>
              <a:t>🎯  AllSides 2D Coordinate System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327648" y="2084832"/>
            <a:ext cx="4261104" cy="34564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▸  X-Axis: Directional Leaning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   Bias_x = (Total_R − Total_L) / max(1, Total_R + Total_L)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   Range: −1.0 (Far Left) to +1.0 (Far Right)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▸  Y-Axis: Factuality Coordinate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   Fact_y = 1.0 − 0.70·(ABS/100) − 0.30·EHF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▸  5 AllSides Zones: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   ◀ Left (&lt;-0.35) | Lean Left | Center | Lean Right | Right (&gt;0.35) ▶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▸  Live Animated Pin on UI canvas.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"/>
          <p:cNvSpPr/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1C729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21295C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502920" y="457200"/>
            <a:ext cx="530352" cy="530352"/>
          </a:xfrm>
          <a:prstGeom prst="roundRect">
            <a:avLst>
              <a:gd fmla="val 20690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502920" y="45720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  <a:defRPr sz="1300" b="1">
                <a:solidFill>
                  <a:srgbClr val="FFFFFF"/>
                </a:solidFill>
              </a:defRPr>
            </a:pPr>
            <a:r>
              <a:t>07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1234440" y="4297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  <a:defRPr sz="1100" b="1">
                <a:solidFill>
                  <a:srgbClr val="4F46E5"/>
                </a:solidFill>
              </a:defRPr>
            </a:pPr>
            <a:r>
              <a:t>SECTION 07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1234440" y="676656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  <a:defRPr sz="2000" b="1">
                <a:solidFill>
                  <a:srgbClr val="0F172A"/>
                </a:solidFill>
              </a:defRPr>
            </a:pPr>
            <a:r>
              <a:t>🧠  Novelty 2: 8-Class Cognitive Fallacy Detection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1234450" y="1543875"/>
            <a:ext cx="9849000" cy="4445400"/>
          </a:xfrm>
          <a:prstGeom prst="roundRect">
            <a:avLst>
              <a:gd fmla="val 2564" name="adj"/>
            </a:avLst>
          </a:prstGeom>
          <a:solidFill>
            <a:srgbClr val="FFFFFF"/>
          </a:solidFill>
          <a:ln cap="flat" cmpd="sng" w="12700">
            <a:solidFill>
              <a:srgbClr val="DEE4E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1554475" y="1772638"/>
            <a:ext cx="9106200" cy="42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1400"/>
              <a:buFont typeface="Calibri"/>
              <a:buNone/>
            </a:pP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BCS753  ·  B.TECH MAJOR PROJECT PRESENTATION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11228832" y="651967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  <a:defRPr sz="1000">
                <a:solidFill>
                  <a:srgbClr val="64748B"/>
                </a:solidFill>
              </a:defRPr>
            </a:pPr>
            <a: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Rounded Rectangle 79"/>
          <p:cNvSpPr/>
          <p:nvPr/>
        </p:nvSpPr>
        <p:spPr>
          <a:xfrm>
            <a:off x="1371600" y="1645920"/>
            <a:ext cx="4480560" cy="3931920"/>
          </a:xfrm>
          <a:prstGeom prst="roundRect">
            <a:avLst/>
          </a:prstGeom>
          <a:solidFill>
            <a:srgbClr val="FFF1F2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1371600" y="1645920"/>
            <a:ext cx="4480560" cy="384048"/>
          </a:xfrm>
          <a:prstGeom prst="round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50">
                <a:solidFill>
                  <a:srgbClr val="FFFFFF"/>
                </a:solidFill>
              </a:defRPr>
            </a:pPr>
            <a:r>
              <a:t>🎯  8-Class Fallacy Taxonomy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481328" y="2084832"/>
            <a:ext cx="4261104" cy="34564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1. ⚠️  Appeal to Fear  [HIGH]    — Catastrophic panic cues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2. 🎯  Ad Hominem  [HIGH]        — Personal character smears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3. 👤  Phantom Authority  [MOD]   — Anonymous expert claims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4. 🔀  False Dilemma  [MOD]       — Forced binary choices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5. 🍒  Cherry-Picking  [MOD]      — Isolated anecdotes as proof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6. 🌐  Hasty Generalization [LOW]  — Sweeping absolutes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7. 🕵️  Conspiracy Framing [CRIT]   — Covert plot claims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8. ⏳  False Urgency  [MOD]       — 'Share before deleted!'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6217920" y="1645920"/>
            <a:ext cx="4480560" cy="393192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6217920" y="1645920"/>
            <a:ext cx="4480560" cy="384048"/>
          </a:xfrm>
          <a:prstGeom prst="round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50">
                <a:solidFill>
                  <a:srgbClr val="FFFFFF"/>
                </a:solidFill>
              </a:defRPr>
            </a:pPr>
            <a:r>
              <a:t>🛡️  Fallacy Severity Index (FSI)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327648" y="2084832"/>
            <a:ext cx="4261104" cy="34564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▸  Weighted Formula (FSI ∈ [0, 100]):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   FSI = min(100, 25·F_consp + 20·F_fear + 20·F_adhom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         + 15·F_vague + 10·F_dilemma + 10·F_urgency)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▸  Conspiracy framing = highest penalty (25)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   Due to its unfalsifiable nature.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▸  100% Deterministic: Zero false positives on defined patterns.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▸  Evidence Cards: Each detection shows sentence index,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   matched cue, severity badge, and cognitive explanation.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"/>
          <p:cNvSpPr/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1C729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21295C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502920" y="457200"/>
            <a:ext cx="530352" cy="530352"/>
          </a:xfrm>
          <a:prstGeom prst="roundRect">
            <a:avLst>
              <a:gd fmla="val 20690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502920" y="45720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  <a:defRPr sz="1300" b="1">
                <a:solidFill>
                  <a:srgbClr val="FFFFFF"/>
                </a:solidFill>
              </a:defRPr>
            </a:pPr>
            <a:r>
              <a:t>08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1234440" y="4297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  <a:defRPr sz="1100" b="1">
                <a:solidFill>
                  <a:srgbClr val="4F46E5"/>
                </a:solidFill>
              </a:defRPr>
            </a:pPr>
            <a:r>
              <a:t>SECTION 08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1234440" y="676656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  <a:defRPr sz="2000" b="1">
                <a:solidFill>
                  <a:srgbClr val="0F172A"/>
                </a:solidFill>
              </a:defRPr>
            </a:pPr>
            <a:r>
              <a:t>🏛️  Novelty 3: Institutional Fact Grounding Matrix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1234450" y="1543875"/>
            <a:ext cx="9849000" cy="4445400"/>
          </a:xfrm>
          <a:prstGeom prst="roundRect">
            <a:avLst>
              <a:gd fmla="val 2564" name="adj"/>
            </a:avLst>
          </a:prstGeom>
          <a:solidFill>
            <a:srgbClr val="FFFFFF"/>
          </a:solidFill>
          <a:ln cap="flat" cmpd="sng" w="12700">
            <a:solidFill>
              <a:srgbClr val="DEE4E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1554475" y="1772638"/>
            <a:ext cx="9106200" cy="42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1400"/>
              <a:buFont typeface="Calibri"/>
              <a:buNone/>
            </a:pP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BCS753  ·  B.TECH MAJOR PROJECT PRESENTATION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11228832" y="651967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  <a:defRPr sz="1000">
                <a:solidFill>
                  <a:srgbClr val="64748B"/>
                </a:solidFill>
              </a:defRPr>
            </a:pPr>
            <a: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Rounded Rectangle 79"/>
          <p:cNvSpPr/>
          <p:nvPr/>
        </p:nvSpPr>
        <p:spPr>
          <a:xfrm>
            <a:off x="1371600" y="1645920"/>
            <a:ext cx="4480560" cy="3931920"/>
          </a:xfrm>
          <a:prstGeom prst="roundRect">
            <a:avLst/>
          </a:prstGeom>
          <a:solidFill>
            <a:srgbClr val="ECFE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1371600" y="1645920"/>
            <a:ext cx="4480560" cy="384048"/>
          </a:xfrm>
          <a:prstGeom prst="roundRect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50">
                <a:solidFill>
                  <a:srgbClr val="FFFFFF"/>
                </a:solidFill>
              </a:defRPr>
            </a:pPr>
            <a:r>
              <a:t>🌍  Authoritative Source Matrix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481328" y="2084832"/>
            <a:ext cx="4261104" cy="34564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🏥  WHO &amp; NCI (Oncology):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   Cancer = 100+ genomic malignancies, no overnight cure.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💉  WHO &amp; CDC (Vaccine Immunology):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   mRNA degrades rapidly, never alters human DNA.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🔭  NASA CNEOS &amp; ESA (Planetary Defense):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   Sentry radar: zero catastrophic impact hazards (100+ years).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🌡️  IPCC AR6 &amp; WMO (Climate):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   195-government consensus, CO₂ &gt; 420 ppm.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📜  UNESCO &amp; UN-Water: Heritage &amp; water standards.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6217920" y="1645920"/>
            <a:ext cx="4480560" cy="393192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6217920" y="1645920"/>
            <a:ext cx="4480560" cy="38404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50">
                <a:solidFill>
                  <a:srgbClr val="FFFFFF"/>
                </a:solidFill>
              </a:defRPr>
            </a:pPr>
            <a:r>
              <a:t>🔍  Claim Verification Badges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327648" y="2084832"/>
            <a:ext cx="4261104" cy="34564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▸  4 Line-Level Status Badges: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   🔴  [REFUTED] — Direct factual contradiction.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   🟠  [HALF-TRUTH] — True stats with missing context.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   🟡  [VAGUE / UNVERIFIED] — Generic unnamed sources.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   🟢  [SUPPORTED / ALIGNED] — Conforms to verified data.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▸  Wikipedia OpenSearch API Integration: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   Real-time entity summaries from Knowledge Graph.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▸  Every refuted line → exact counter-evidence + source URL.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"/>
          <p:cNvSpPr/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1C729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21295C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502920" y="457200"/>
            <a:ext cx="530352" cy="530352"/>
          </a:xfrm>
          <a:prstGeom prst="roundRect">
            <a:avLst>
              <a:gd fmla="val 20690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502920" y="45720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  <a:defRPr sz="1300" b="1">
                <a:solidFill>
                  <a:srgbClr val="FFFFFF"/>
                </a:solidFill>
              </a:defRPr>
            </a:pPr>
            <a:r>
              <a:t>10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1234440" y="4297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  <a:defRPr sz="1100" b="1">
                <a:solidFill>
                  <a:srgbClr val="4F46E5"/>
                </a:solidFill>
              </a:defRPr>
            </a:pPr>
            <a:r>
              <a:t>SECTION 10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1234440" y="676656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  <a:defRPr sz="2000" b="1">
                <a:solidFill>
                  <a:srgbClr val="0F172A"/>
                </a:solidFill>
              </a:defRPr>
            </a:pPr>
            <a:r>
              <a:t>🔀  Primary Data Path: Article-to-Verdict Flow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1234450" y="1543875"/>
            <a:ext cx="9849000" cy="4445400"/>
          </a:xfrm>
          <a:prstGeom prst="roundRect">
            <a:avLst>
              <a:gd fmla="val 2564" name="adj"/>
            </a:avLst>
          </a:prstGeom>
          <a:solidFill>
            <a:srgbClr val="FFFFFF"/>
          </a:solidFill>
          <a:ln cap="flat" cmpd="sng" w="12700">
            <a:solidFill>
              <a:srgbClr val="DEE4E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1554475" y="1772638"/>
            <a:ext cx="9106200" cy="42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1400"/>
              <a:buFont typeface="Calibri"/>
              <a:buNone/>
            </a:pP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BCS753  ·  B.TECH MAJOR PROJECT PRESENTATION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11228832" y="651967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  <a:defRPr sz="1000">
                <a:solidFill>
                  <a:srgbClr val="64748B"/>
                </a:solidFill>
              </a:defRPr>
            </a:pPr>
            <a:r>
              <a:t>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0" name="Picture 79" descr="data_flow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1124712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"/>
          <p:cNvSpPr/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1C729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21295C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502920" y="457200"/>
            <a:ext cx="530352" cy="530352"/>
          </a:xfrm>
          <a:prstGeom prst="roundRect">
            <a:avLst>
              <a:gd fmla="val 20690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502920" y="45720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  <a:defRPr sz="1300" b="1">
                <a:solidFill>
                  <a:srgbClr val="FFFFFF"/>
                </a:solidFill>
              </a:defRPr>
            </a:pPr>
            <a:r>
              <a:t>11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1234440" y="4297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  <a:defRPr sz="1100" b="1">
                <a:solidFill>
                  <a:srgbClr val="4F46E5"/>
                </a:solidFill>
              </a:defRPr>
            </a:pPr>
            <a:r>
              <a:t>SECTION 11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1234440" y="676656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  <a:defRPr sz="2000" b="1">
                <a:solidFill>
                  <a:srgbClr val="0F172A"/>
                </a:solidFill>
              </a:defRPr>
            </a:pPr>
            <a:r>
              <a:t>🌐  External Dependencies &amp; Institutional API Matrix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1234450" y="1543875"/>
            <a:ext cx="9849000" cy="4445400"/>
          </a:xfrm>
          <a:prstGeom prst="roundRect">
            <a:avLst>
              <a:gd fmla="val 2564" name="adj"/>
            </a:avLst>
          </a:prstGeom>
          <a:solidFill>
            <a:srgbClr val="FFFFFF"/>
          </a:solidFill>
          <a:ln cap="flat" cmpd="sng" w="12700">
            <a:solidFill>
              <a:srgbClr val="DEE4E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1554475" y="1772638"/>
            <a:ext cx="9106200" cy="42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1400"/>
              <a:buFont typeface="Calibri"/>
              <a:buNone/>
            </a:pP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BCS753  ·  B.TECH MAJOR PROJECT PRESENTATION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11228832" y="651967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  <a:defRPr sz="1000">
                <a:solidFill>
                  <a:srgbClr val="64748B"/>
                </a:solidFill>
              </a:defRPr>
            </a:pPr>
            <a:r>
              <a:t>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0" name="Picture 79" descr="external_dependenc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1124712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"/>
          <p:cNvSpPr/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1C729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21295C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502920" y="457200"/>
            <a:ext cx="530352" cy="530352"/>
          </a:xfrm>
          <a:prstGeom prst="roundRect">
            <a:avLst>
              <a:gd fmla="val 20690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502920" y="45720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  <a:defRPr sz="1300" b="1">
                <a:solidFill>
                  <a:srgbClr val="FFFFFF"/>
                </a:solidFill>
              </a:defRPr>
            </a:pPr>
            <a:r>
              <a:t>12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1234440" y="4297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  <a:defRPr sz="1100" b="1">
                <a:solidFill>
                  <a:srgbClr val="4F46E5"/>
                </a:solidFill>
              </a:defRPr>
            </a:pPr>
            <a:r>
              <a:t>SECTION 12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1234440" y="676656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  <a:defRPr sz="2000" b="1">
                <a:solidFill>
                  <a:srgbClr val="0F172A"/>
                </a:solidFill>
              </a:defRPr>
            </a:pPr>
            <a:r>
              <a:t>📐  Formula Cheatsheet: Complete Mathematical Framework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1234450" y="1543875"/>
            <a:ext cx="9849000" cy="4445400"/>
          </a:xfrm>
          <a:prstGeom prst="roundRect">
            <a:avLst>
              <a:gd fmla="val 2564" name="adj"/>
            </a:avLst>
          </a:prstGeom>
          <a:solidFill>
            <a:srgbClr val="FFFFFF"/>
          </a:solidFill>
          <a:ln cap="flat" cmpd="sng" w="12700">
            <a:solidFill>
              <a:srgbClr val="DEE4E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1554475" y="1772638"/>
            <a:ext cx="9106200" cy="42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1400"/>
              <a:buFont typeface="Calibri"/>
              <a:buNone/>
            </a:pP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BCS753  ·  B.TECH MAJOR PROJECT PRESENTATION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11228832" y="651967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  <a:defRPr sz="1000">
                <a:solidFill>
                  <a:srgbClr val="64748B"/>
                </a:solidFill>
              </a:defRPr>
            </a:pPr>
            <a:r>
              <a:t>14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0" name="Picture 79" descr="formula_cheatshe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1124712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"/>
          <p:cNvSpPr/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1C729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21295C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502920" y="457200"/>
            <a:ext cx="530352" cy="530352"/>
          </a:xfrm>
          <a:prstGeom prst="roundRect">
            <a:avLst>
              <a:gd fmla="val 20690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502920" y="45720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  <a:defRPr sz="1300" b="1">
                <a:solidFill>
                  <a:srgbClr val="FFFFFF"/>
                </a:solidFill>
              </a:defRPr>
            </a:pPr>
            <a:r>
              <a:t>13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1234440" y="4297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  <a:defRPr sz="1100" b="1">
                <a:solidFill>
                  <a:srgbClr val="4F46E5"/>
                </a:solidFill>
              </a:defRPr>
            </a:pPr>
            <a:r>
              <a:t>SECTION 13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1234440" y="676656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  <a:defRPr sz="2000" b="1">
                <a:solidFill>
                  <a:srgbClr val="0F172A"/>
                </a:solidFill>
              </a:defRPr>
            </a:pPr>
            <a:r>
              <a:t>🤖  Machine Learning Benchmarks &amp; Stacking Performance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1234450" y="1543875"/>
            <a:ext cx="9849000" cy="4445400"/>
          </a:xfrm>
          <a:prstGeom prst="roundRect">
            <a:avLst>
              <a:gd fmla="val 2564" name="adj"/>
            </a:avLst>
          </a:prstGeom>
          <a:solidFill>
            <a:srgbClr val="FFFFFF"/>
          </a:solidFill>
          <a:ln cap="flat" cmpd="sng" w="12700">
            <a:solidFill>
              <a:srgbClr val="DEE4E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1554475" y="1772638"/>
            <a:ext cx="9106200" cy="42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1400"/>
              <a:buFont typeface="Calibri"/>
              <a:buNone/>
            </a:pP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BCS753  ·  B.TECH MAJOR PROJECT PRESENTATION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11228832" y="651967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  <a:defRPr sz="1000">
                <a:solidFill>
                  <a:srgbClr val="64748B"/>
                </a:solidFill>
              </a:defRPr>
            </a:pPr>
            <a:r>
              <a:t>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Rounded Rectangle 79"/>
          <p:cNvSpPr/>
          <p:nvPr/>
        </p:nvSpPr>
        <p:spPr>
          <a:xfrm>
            <a:off x="1371600" y="1645920"/>
            <a:ext cx="5486400" cy="393192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1371600" y="1645920"/>
            <a:ext cx="5486400" cy="384048"/>
          </a:xfrm>
          <a:prstGeom prst="round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50">
                <a:solidFill>
                  <a:srgbClr val="FFFFFF"/>
                </a:solidFill>
              </a:defRPr>
            </a:pPr>
            <a:r>
              <a:t>📊  Model Zoo &amp; Experimental Results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481328" y="2084832"/>
            <a:ext cx="5266944" cy="34564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▸  Feature Space: D = 5,028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   4,000 TF-IDF N-grams + 18 Stylometric + 10 Bias features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▸  Comparative Performance: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   📈  Logistic Regression (baseline): 96.25% | F1: 0.9625 | AUC: 0.9958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   🌲  Random Forest (fused):          97.08% | F1: 0.9707 | AUC: 0.9972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   ⚡  XGBoost (gradient boost):       97.92% | F1: 0.9791 | AUC: 0.9981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   🏆  Stacking Ensemble (ours):       98.33% | F1: 0.9833 | AUC: 0.9989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▸  Key Finding: Stacking combines tree non-linearities with calibrated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   meta-regression, reducing false discovery rate by 55%.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7315200" y="1737360"/>
            <a:ext cx="3200400" cy="68580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315200" y="1810512"/>
            <a:ext cx="3200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b="1" sz="1800">
                <a:solidFill>
                  <a:srgbClr val="FFFFFF"/>
                </a:solidFill>
              </a:defRPr>
            </a:pPr>
            <a:r>
              <a:t>98.33%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15200" y="212140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CLASSIFICATION ACCURACY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7315200" y="2606040"/>
            <a:ext cx="3200400" cy="685800"/>
          </a:xfrm>
          <a:prstGeom prst="round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315200" y="2679192"/>
            <a:ext cx="3200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b="1" sz="1800">
                <a:solidFill>
                  <a:srgbClr val="FFFFFF"/>
                </a:solidFill>
              </a:defRPr>
            </a:pPr>
            <a:r>
              <a:t>0.9989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315200" y="299008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ROC-AUC SCORE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7315200" y="3474720"/>
            <a:ext cx="3200400" cy="685800"/>
          </a:xfrm>
          <a:prstGeom prst="roundRect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315200" y="3547872"/>
            <a:ext cx="3200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b="1" sz="1800">
                <a:solidFill>
                  <a:srgbClr val="FFFFFF"/>
                </a:solidFill>
              </a:defRPr>
            </a:pPr>
            <a:r>
              <a:t>5,028-D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315200" y="385876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FEATURE VECTOR SPACE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7315200" y="4343400"/>
            <a:ext cx="3200400" cy="685800"/>
          </a:xfrm>
          <a:prstGeom prst="round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315200" y="4416552"/>
            <a:ext cx="3200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b="1" sz="1800">
                <a:solidFill>
                  <a:srgbClr val="FFFFFF"/>
                </a:solidFill>
              </a:defRPr>
            </a:pPr>
            <a:r>
              <a:t>−55%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315200" y="472744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FALSE POSITIVE REDUCTION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"/>
          <p:cNvSpPr/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1C729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21295C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502920" y="457200"/>
            <a:ext cx="530352" cy="530352"/>
          </a:xfrm>
          <a:prstGeom prst="roundRect">
            <a:avLst>
              <a:gd fmla="val 20690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502920" y="45720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  <a:defRPr sz="1300" b="1">
                <a:solidFill>
                  <a:srgbClr val="FFFFFF"/>
                </a:solidFill>
              </a:defRPr>
            </a:pPr>
            <a:r>
              <a:t>14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1234440" y="4297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  <a:defRPr sz="1100" b="1">
                <a:solidFill>
                  <a:srgbClr val="4F46E5"/>
                </a:solidFill>
              </a:defRPr>
            </a:pPr>
            <a:r>
              <a:t>SECTION 14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1234440" y="676656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  <a:defRPr sz="2000" b="1">
                <a:solidFill>
                  <a:srgbClr val="0F172A"/>
                </a:solidFill>
              </a:defRPr>
            </a:pPr>
            <a:r>
              <a:t>📱  Real-Time Telemetry Dashboard &amp; Live Demo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1234450" y="1543875"/>
            <a:ext cx="9849000" cy="4445400"/>
          </a:xfrm>
          <a:prstGeom prst="roundRect">
            <a:avLst>
              <a:gd fmla="val 2564" name="adj"/>
            </a:avLst>
          </a:prstGeom>
          <a:solidFill>
            <a:srgbClr val="FFFFFF"/>
          </a:solidFill>
          <a:ln cap="flat" cmpd="sng" w="12700">
            <a:solidFill>
              <a:srgbClr val="DEE4E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1554475" y="1772638"/>
            <a:ext cx="9106200" cy="42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1400"/>
              <a:buFont typeface="Calibri"/>
              <a:buNone/>
            </a:pP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BCS753  ·  B.TECH MAJOR PROJECT PRESENTATION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11228832" y="651967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  <a:defRPr sz="1000">
                <a:solidFill>
                  <a:srgbClr val="64748B"/>
                </a:solidFill>
              </a:defRPr>
            </a:pPr>
            <a:r>
              <a:t>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Rounded Rectangle 79"/>
          <p:cNvSpPr/>
          <p:nvPr/>
        </p:nvSpPr>
        <p:spPr>
          <a:xfrm>
            <a:off x="1371600" y="1645920"/>
            <a:ext cx="4480560" cy="182880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1371600" y="1645920"/>
            <a:ext cx="4480560" cy="384048"/>
          </a:xfrm>
          <a:prstGeom prst="round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50">
                <a:solidFill>
                  <a:srgbClr val="FFFFFF"/>
                </a:solidFill>
              </a:defRPr>
            </a:pPr>
            <a:r>
              <a:t>📝  1. Text Inspector &amp; Highlighter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481328" y="2084832"/>
            <a:ext cx="4261104" cy="135331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Paste any article for instant multi-tiered auditing.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🔴 Red-highlights high-risk deceptive sentences with risk scores.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6217920" y="1645920"/>
            <a:ext cx="4480560" cy="1828800"/>
          </a:xfrm>
          <a:prstGeom prst="roundRect">
            <a:avLst/>
          </a:prstGeom>
          <a:solidFill>
            <a:srgbClr val="ECFE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6217920" y="1645920"/>
            <a:ext cx="4480560" cy="384048"/>
          </a:xfrm>
          <a:prstGeom prst="roundRect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50">
                <a:solidFill>
                  <a:srgbClr val="FFFFFF"/>
                </a:solidFill>
              </a:defRPr>
            </a:pPr>
            <a:r>
              <a:t>🌐  2. Live Web URL Scanner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327648" y="2084832"/>
            <a:ext cx="4261104" cy="135331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Enter any news URL (BBC, CNN, Fox, blogs) for live scraping.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Sanitizes layout, strips ads/navbars → full verification pipeline.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1371600" y="3657600"/>
            <a:ext cx="4480560" cy="182880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1371600" y="3657600"/>
            <a:ext cx="4480560" cy="384048"/>
          </a:xfrm>
          <a:prstGeom prst="round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50">
                <a:solidFill>
                  <a:srgbClr val="FFFFFF"/>
                </a:solidFill>
              </a:defRPr>
            </a:pPr>
            <a:r>
              <a:t>📡  3. BBC RSS Live Presets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481328" y="4096512"/>
            <a:ext cx="4261104" cy="135331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7 dynamic presets: 2 Authentic, 1 Clickbait, 1 Conspiracy, etc.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Real-time connection to live BBC World News feeds.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6217920" y="3657600"/>
            <a:ext cx="4480560" cy="18288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6217920" y="3657600"/>
            <a:ext cx="4480560" cy="38404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50">
                <a:solidFill>
                  <a:srgbClr val="FFFFFF"/>
                </a:solidFill>
              </a:defRPr>
            </a:pPr>
            <a:r>
              <a:t>📍  4. AllSides 2D Interactive Canvas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327648" y="4096512"/>
            <a:ext cx="4261104" cy="135331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Animated pin positioning based on (Bias_x, Fact_y) coordinates.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Instant visual feedback on ideological lean and factuality.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"/>
          <p:cNvSpPr/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1C729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21295C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502920" y="457200"/>
            <a:ext cx="530352" cy="530352"/>
          </a:xfrm>
          <a:prstGeom prst="roundRect">
            <a:avLst>
              <a:gd fmla="val 20690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502920" y="45720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  <a:defRPr sz="1300" b="1">
                <a:solidFill>
                  <a:srgbClr val="FFFFFF"/>
                </a:solidFill>
              </a:defRPr>
            </a:pPr>
            <a:r>
              <a:t>17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1234440" y="4297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  <a:defRPr sz="1100" b="1">
                <a:solidFill>
                  <a:srgbClr val="4F46E5"/>
                </a:solidFill>
              </a:defRPr>
            </a:pPr>
            <a:r>
              <a:t>SECTION 17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1234440" y="676656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  <a:defRPr sz="2000" b="1">
                <a:solidFill>
                  <a:srgbClr val="0F172A"/>
                </a:solidFill>
              </a:defRPr>
            </a:pPr>
            <a:r>
              <a:t>❓  Anticipated Viva-Voce Questions &amp; Answers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1234450" y="1543875"/>
            <a:ext cx="9849000" cy="4445400"/>
          </a:xfrm>
          <a:prstGeom prst="roundRect">
            <a:avLst>
              <a:gd fmla="val 2564" name="adj"/>
            </a:avLst>
          </a:prstGeom>
          <a:solidFill>
            <a:srgbClr val="FFFFFF"/>
          </a:solidFill>
          <a:ln cap="flat" cmpd="sng" w="12700">
            <a:solidFill>
              <a:srgbClr val="DEE4E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1554475" y="1772638"/>
            <a:ext cx="9106200" cy="42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1400"/>
              <a:buFont typeface="Calibri"/>
              <a:buNone/>
            </a:pP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BCS753  ·  B.TECH MAJOR PROJECT PRESENTATION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11228832" y="651967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  <a:defRPr sz="1000">
                <a:solidFill>
                  <a:srgbClr val="64748B"/>
                </a:solidFill>
              </a:defRPr>
            </a:pPr>
            <a:r>
              <a:t>19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Rounded Rectangle 79"/>
          <p:cNvSpPr/>
          <p:nvPr/>
        </p:nvSpPr>
        <p:spPr>
          <a:xfrm>
            <a:off x="1371600" y="1645920"/>
            <a:ext cx="4480560" cy="182880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1371600" y="1645920"/>
            <a:ext cx="4480560" cy="384048"/>
          </a:xfrm>
          <a:prstGeom prst="round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50">
                <a:solidFill>
                  <a:srgbClr val="FFFFFF"/>
                </a:solidFill>
              </a:defRPr>
            </a:pPr>
            <a:r>
              <a:t>❓  Q1: Why Stacking over ChatGPT/LLMs?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481328" y="2084832"/>
            <a:ext cx="4261104" cy="135331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LLMs are black boxes that hallucinate citations and cost API latency.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Our Stacking: 98.33% accuracy with 100% explainability, runs in &lt;3s locally.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6217920" y="1645920"/>
            <a:ext cx="4480560" cy="182880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6217920" y="1645920"/>
            <a:ext cx="4480560" cy="384048"/>
          </a:xfrm>
          <a:prstGeom prst="round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50">
                <a:solidFill>
                  <a:srgbClr val="FFFFFF"/>
                </a:solidFill>
              </a:defRPr>
            </a:pPr>
            <a:r>
              <a:t>❓  Q2: How is Stance Inversion solved?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327648" y="2084832"/>
            <a:ext cx="4261104" cy="135331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Naive models: criticizing Left = labeled Left (WRONG).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We evaluate grammatical targets: criticism of Left = RIGHT (Bias_x &gt; 0).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1371600" y="3657600"/>
            <a:ext cx="4480560" cy="1828800"/>
          </a:xfrm>
          <a:prstGeom prst="roundRect">
            <a:avLst/>
          </a:prstGeom>
          <a:solidFill>
            <a:srgbClr val="ECFE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1371600" y="3657600"/>
            <a:ext cx="4480560" cy="384048"/>
          </a:xfrm>
          <a:prstGeom prst="roundRect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50">
                <a:solidFill>
                  <a:srgbClr val="FFFFFF"/>
                </a:solidFill>
              </a:defRPr>
            </a:pPr>
            <a:r>
              <a:t>❓  Q3: What makes this IEEE/Scopus ready?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481328" y="4096512"/>
            <a:ext cx="4261104" cy="135331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First unified pipeline: Stylometrics + Stance + Fallacy + Grounding.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12+ original mathematical formulations with full empirical benchmarking.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6217920" y="3657600"/>
            <a:ext cx="4480560" cy="1828800"/>
          </a:xfrm>
          <a:prstGeom prst="roundRect">
            <a:avLst/>
          </a:prstGeom>
          <a:solidFill>
            <a:srgbClr val="FFF1F2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6217920" y="3657600"/>
            <a:ext cx="4480560" cy="384048"/>
          </a:xfrm>
          <a:prstGeom prst="round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50">
                <a:solidFill>
                  <a:srgbClr val="FFFFFF"/>
                </a:solidFill>
              </a:defRPr>
            </a:pPr>
            <a:r>
              <a:t>❓  Q4: What's done for Evaluation-1?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327648" y="4096512"/>
            <a:ext cx="4261104" cy="135331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Week 1 → 100% complete: Title approved, 4 objectives, 12+ papers surveyed,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5-layer architecture finalized, synopsis approved, weekly log verified.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