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F8C752-C599-43E0-AF3E-0C5C76907463}">
  <a:tblStyle styleId="{D8F8C752-C599-43E0-AF3E-0C5C7690746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CFE3E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14400" y="169164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LLOYD INSTITUTE OF ENGINEERING &amp; TECHNOLOGY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14400" y="2114821"/>
            <a:ext cx="103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Greater Noida  |  Department of Computer Science &amp; Engineering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14400" y="2715775"/>
            <a:ext cx="103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B.TECH FINAL YEAR MAJOR PROJECT  ·  BCS753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280160" y="3200400"/>
            <a:ext cx="9628632" cy="1371600"/>
          </a:xfrm>
          <a:prstGeom prst="roundRect">
            <a:avLst>
              <a:gd fmla="val 8000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463040" y="3200400"/>
            <a:ext cx="926287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  <a:defRPr b="1" sz="2600">
                <a:solidFill>
                  <a:srgbClr val="0F172A"/>
                </a:solidFill>
              </a:defRPr>
            </a:pPr>
            <a:r>
              <a:t>EVIDENCE AND FRAMING AUDITOR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1400" b="1">
                <a:solidFill>
                  <a:srgbClr val="4F46E5"/>
                </a:solidFill>
              </a:defRPr>
            </a:pPr>
            <a:r>
              <a:t>Automated Deception, Bias, and Epistemic Verification Architecture</a:t>
            </a:r>
          </a:p>
        </p:txBody>
      </p:sp>
      <p:sp>
        <p:nvSpPr>
          <p:cNvPr id="23" name="Google Shape;23;p3"/>
          <p:cNvSpPr/>
          <p:nvPr/>
        </p:nvSpPr>
        <p:spPr>
          <a:xfrm>
            <a:off x="914400" y="470916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300"/>
              <a:buFont typeface="Calibri"/>
              <a:buNone/>
            </a:pPr>
            <a:r>
              <a:rPr b="0" i="1" lang="en-US" sz="15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Project Presentation – I   |   Session 2026–27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6094476" y="5257800"/>
            <a:ext cx="0" cy="118872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3"/>
          <p:cNvSpPr/>
          <p:nvPr/>
        </p:nvSpPr>
        <p:spPr>
          <a:xfrm>
            <a:off x="914400" y="53035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050"/>
              <a:buFont typeface="Calibri"/>
              <a:buNone/>
            </a:pPr>
            <a:r>
              <a:rPr b="1" i="0" lang="en-US" sz="1150" u="none" cap="none" strike="noStrik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GUIDE NAME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914400" y="557784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  <a:defRPr b="1" sz="1300">
                <a:solidFill>
                  <a:srgbClr val="0F172A"/>
                </a:solidFill>
              </a:defRPr>
            </a:pPr>
            <a:r>
              <a:t>Dr. Devendra Gautam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914400" y="598932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100"/>
              <a:buFont typeface="Calibri"/>
              <a:buNone/>
              <a:defRPr sz="1100">
                <a:solidFill>
                  <a:srgbClr val="475569"/>
                </a:solidFill>
              </a:defRPr>
            </a:pPr>
            <a:r>
              <a:t>Assistant Professor, Department of CSE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766560" y="5303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050"/>
              <a:buFont typeface="Calibri"/>
              <a:buNone/>
            </a:pPr>
            <a:r>
              <a:rPr b="1" i="0" lang="en-US" sz="1250" u="none" cap="none" strike="noStrik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766560" y="557784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  <a:defRPr sz="1000">
                <a:solidFill>
                  <a:srgbClr val="0F172A"/>
                </a:solidFill>
              </a:defRPr>
            </a:pPr>
            <a:r>
              <a:t>1. Dev Rana Kaila (Lead)   —   Roll No. 2301531530023   —   Sec AIML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2. Shravan J. Poojary   —   Roll No. 2301721530022   —   Sec AIML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3. Snehil Shukla   —   Roll No. 2301721530023   —   Sec AIML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4. Shivansh Pandey   —   Roll No. 2301531530051   —   Sec AIML</a:t>
            </a:r>
          </a:p>
        </p:txBody>
      </p:sp>
      <p:pic>
        <p:nvPicPr>
          <p:cNvPr id="30" name="Google Shape;30;p3" title="LLOYD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1563" y="424800"/>
            <a:ext cx="1005835" cy="99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Presentation 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14400" y="16002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91440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36192" y="158191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  <a:defRPr sz="1200" b="1">
                <a:solidFill>
                  <a:srgbClr val="0F172A"/>
                </a:solidFill>
              </a:defRPr>
            </a:pPr>
            <a:r>
              <a:t>Motivation &amp; The Deception Crisis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14400" y="225856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14400" y="22585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536192" y="224028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  <a:defRPr sz="1200" b="1">
                <a:solidFill>
                  <a:srgbClr val="0F172A"/>
                </a:solidFill>
              </a:defRPr>
            </a:pPr>
            <a:r>
              <a:t>Problem Statement &amp; Research Gaps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14400" y="2916936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914400" y="2916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36192" y="289864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  <a:defRPr sz="1200" b="1">
                <a:solidFill>
                  <a:srgbClr val="0F172A"/>
                </a:solidFill>
              </a:defRPr>
            </a:pPr>
            <a:r>
              <a:t>Project Objectives &amp; Technical Scope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14400" y="3575304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914400" y="357530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536192" y="3557016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  <a:defRPr sz="1200" b="1">
                <a:solidFill>
                  <a:srgbClr val="0F172A"/>
                </a:solidFill>
              </a:defRPr>
            </a:pPr>
            <a:r>
              <a:t>Literature Survey &amp; SOTA Comparison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309360" y="16002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30936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931152" y="158191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  <a:defRPr sz="1200" b="1">
                <a:solidFill>
                  <a:srgbClr val="0F172A"/>
                </a:solidFill>
              </a:defRPr>
            </a:pPr>
            <a:r>
              <a:t>System Architecture &amp; Core Working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309360" y="225856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309360" y="22585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931152" y="224028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  <a:defRPr sz="1200" b="1">
                <a:solidFill>
                  <a:srgbClr val="0F172A"/>
                </a:solidFill>
              </a:defRPr>
            </a:pPr>
            <a:r>
              <a:t>Machine Learning Benchmarks &amp; UI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309360" y="2916936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309360" y="2916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931152" y="289864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  <a:defRPr sz="1200" b="1">
                <a:solidFill>
                  <a:srgbClr val="0F172A"/>
                </a:solidFill>
              </a:defRPr>
            </a:pPr>
            <a:r>
              <a:t>Evaluation-1 Status, Q&amp;A &amp; References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t>SECTION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t>Motivation &amp; The Misinformation Crisis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6B7593"/>
              </a:buClr>
              <a:buSzPts val="1400"/>
              <a:buFont typeface="Calibri"/>
              <a:buNone/>
              <a:defRPr sz="1150">
                <a:solidFill>
                  <a:srgbClr val="1E293B"/>
                </a:solidFill>
              </a:defRPr>
            </a:pPr>
            <a:r>
              <a:t>• Unprecedented Scale of Digital Deception: UNESCO (2025) reports that 67% of global internet users encounter deliberate online misinformation. The World Economic Forum Global Risks Report ranks misinformation as the #1 existential societal hazard over the next two years.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Severe Real-World Impact: Fabricated health claims cause measurable declines in immunization; speculative financial misinformation triggers market panic; and hyper-partisan disinformation severely erodes civil trust and democratic discourse.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The Cognitive Evasion Challenge: Modern disinformation campaigns no longer rely on obvious typos or crude syntax. Instead, they exploit cognitive biases, emotional hyperbole, and target-entity framing that easily bypass conventional keyword blacklists.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The Imperative for Explainable AI (XAI): Current deep-learning solutions output opaque probabilities with zero reasoning. Media forensics demands a transparent, multi-dimensional auditor that explains WHY an article is deceptive and HOW it manipulates.</a:t>
            </a: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t>SECTION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234415" y="1632220"/>
            <a:ext cx="46635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1463040" y="22860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9D8E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423160" y="2107683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  <a:defRPr b="1" sz="1200">
                <a:solidFill>
                  <a:srgbClr val="0F172A"/>
                </a:solidFill>
              </a:defRPr>
            </a:pPr>
            <a:r>
              <a:t>Multi-Branch Stylometric Extraction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Formulate 18+ mathematical metrics including TTR, Simpson's Index, FRE, FKGL, and Gunning Fog alongside Subjectivity (S_idx) and Emotional Hyperbole (EHF).</a:t>
            </a:r>
          </a:p>
        </p:txBody>
      </p:sp>
      <p:sp>
        <p:nvSpPr>
          <p:cNvPr id="94" name="Google Shape;94;p6"/>
          <p:cNvSpPr/>
          <p:nvPr/>
        </p:nvSpPr>
        <p:spPr>
          <a:xfrm>
            <a:off x="6355055" y="1632220"/>
            <a:ext cx="46635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6583680" y="22860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9D8E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543775" y="2016245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  <a:defRPr b="1" sz="1200">
                <a:solidFill>
                  <a:srgbClr val="0F172A"/>
                </a:solidFill>
              </a:defRPr>
            </a:pPr>
            <a:r>
              <a:t>Target-Stance Ideological Mapping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Develop a novel directional entity-stance algorithm computing continuous 2D coordinates (Bias_x, Fact_y) on an AllSides-calibrated ideological spectrum.</a:t>
            </a:r>
          </a:p>
        </p:txBody>
      </p:sp>
      <p:sp>
        <p:nvSpPr>
          <p:cNvPr id="97" name="Google Shape;97;p6"/>
          <p:cNvSpPr/>
          <p:nvPr/>
        </p:nvSpPr>
        <p:spPr>
          <a:xfrm>
            <a:off x="1234440" y="4160520"/>
            <a:ext cx="46634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463040" y="43434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9D8E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423160" y="438912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  <a:defRPr b="1" sz="1200">
                <a:solidFill>
                  <a:srgbClr val="0F172A"/>
                </a:solidFill>
              </a:defRPr>
            </a:pPr>
            <a:r>
              <a:t>8-Class Fallacy &amp; Institutional Grounding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Build a deterministic fallacy detector with Fallacy Severity Index (FSI), cross-referenced line-by-line against WHO, NASA, IPCC, and UNESCO data.</a:t>
            </a:r>
          </a:p>
        </p:txBody>
      </p:sp>
      <p:sp>
        <p:nvSpPr>
          <p:cNvPr id="100" name="Google Shape;100;p6"/>
          <p:cNvSpPr/>
          <p:nvPr/>
        </p:nvSpPr>
        <p:spPr>
          <a:xfrm>
            <a:off x="6355080" y="4160520"/>
            <a:ext cx="46634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583680" y="43434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9D8E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543800" y="438912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  <a:defRPr b="1" sz="1200">
                <a:solidFill>
                  <a:srgbClr val="0F172A"/>
                </a:solidFill>
              </a:defRPr>
            </a:pPr>
            <a:r>
              <a:t>Hybrid Stacking Ensemble &amp; Live Web UI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Deploy a calibrated Stacking Classifier (LR + RF + XGBoost) achieving 98.33% accuracy (D=5,028 features) with live URL scraping on Port 5001.</a:t>
            </a:r>
          </a:p>
        </p:txBody>
      </p:sp>
      <p:sp>
        <p:nvSpPr>
          <p:cNvPr id="103" name="Google Shape;103;p6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>12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t>SECTION 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Technology Stack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234475" y="1543875"/>
            <a:ext cx="9849000" cy="4445400"/>
          </a:xfrm>
          <a:prstGeom prst="roundRect">
            <a:avLst>
              <a:gd fmla="val 2817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b="1" sz="1150">
                <a:solidFill>
                  <a:srgbClr val="0F172A"/>
                </a:solidFill>
              </a:defRPr>
            </a:pPr>
            <a:r>
              <a:t>• Core Programming &amp; Environment:</a:t>
            </a:r>
            <a:endParaRPr/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 Python 3.11+, Miniconda 64-bit, Git 2.52, Windows PowerShell Automation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Natural Language Processing (NLP):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 NLTK 3.9.2 (WordNet lemmatizers, sentence splitters), TextBlob 0.19.0 (Polarity &amp; Subjectivity), BeautifulSoup4 (DOM body extraction)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Machine Learning &amp; Ensembling: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 Scikit-Learn 1.8.0 (TfidfVectorizer, StandardScaler, LogisticRegression, RandomForestClassifier, StackingClassifier), XGBoost 3.4.1 (Gradient Boosted Trees), NumPy &amp; Pandas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Fact Grounding &amp; External APIs: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 WHO Fact Sheets, NASA CNEOS Sentry Telemetry, IPCC AR6 Reports, UNESCO Heritage Database, Wikipedia OpenSearch REST API, BBC World News RSS Engine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Web Architecture &amp; Telemetry: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   Flask 3.0.0 (REST microservices on Port 5001), HTML5 &amp; CSS3 Canvas, AllSides 2D Animated Pin Tracker, Sentence-Level Deception Highlighter</a:t>
            </a:r>
          </a:p>
        </p:txBody>
      </p:sp>
      <p:sp>
        <p:nvSpPr>
          <p:cNvPr id="116" name="Google Shape;116;p7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t>SECTION 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Literature Survey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8"/>
          <p:cNvGraphicFramePr/>
          <p:nvPr/>
        </p:nvGraphicFramePr>
        <p:xfrm>
          <a:off x="1234440" y="16002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{D8F8C752-C599-43E0-AF3E-0C5C76907463}</a:tableStyleId>
              </a:tblPr>
              <a:tblGrid>
                <a:gridCol w="731525"/>
                <a:gridCol w="2743200"/>
                <a:gridCol w="2011675"/>
                <a:gridCol w="1737350"/>
                <a:gridCol w="2468875"/>
              </a:tblGrid>
              <a:tr h="804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S.No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Author(s)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Journal / Year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Findings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[1]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Multiknowledge &amp; LLM Heterogeneous GNN (MiLk-FD)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B. Xie, X. Ma et al.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IEEE TCSS (2025)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Fuses Wikidata/DBpedia triples via TransE + LLaMA2 in HGNN; 81.2% acc on LIAR benchmark.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[2]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External Info-Enhanced Contrastive Learning (ERIC-FND)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B. Cao, Q. Wu et al.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AAAI Conf. (2025)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Entity-enriched external knowledge verification with contrastive alignment; 94.6% accuracy on social benchmarks.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[3]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Multi-Hop Syntax-Aware Fake News Detection (MSynFD)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L. Xiao, Q. Zhang et al.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ACM WWW (2024)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Syntactic dependency graph with keyword debiasing; eliminates emotional lexical shortcuts with +3.2% gain.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[4]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Interpretable Political Bias Embeddings (PRISM)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Y. Sun, Q. Huang et al.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ACL (2025)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Political-aware cross-encoder mapping articles to continuous AllSides spectrum; isolates partisan framing lexicons.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8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>09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t>SECTION 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System Workflow /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234450" y="1600200"/>
            <a:ext cx="9692700" cy="4585200"/>
          </a:xfrm>
          <a:prstGeom prst="roundRect">
            <a:avLst>
              <a:gd fmla="val 2198" name="adj"/>
            </a:avLst>
          </a:prstGeom>
          <a:solidFill>
            <a:srgbClr val="FFFFFF"/>
          </a:solidFill>
          <a:ln cap="flat" cmpd="sng" w="15875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1828800" y="2551422"/>
            <a:ext cx="8503800" cy="24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600"/>
              <a:buFont typeface="Calibri"/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Picture 146" descr="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10725912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>13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t>SECTION 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Expected Outcome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1249640" y="1600190"/>
            <a:ext cx="9692700" cy="77730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1478240" y="180135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1478240" y="180135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2072600" y="160019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  <a:defRPr b="1" sz="1100">
                <a:solidFill>
                  <a:srgbClr val="0F172A"/>
                </a:solidFill>
              </a:defRPr>
            </a:pPr>
            <a:r>
              <a:t>High-Precision Explainable Stacking Ensemble (98.33% Accuracy):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Calibrated Stacking Classifier achieving 0.9833 Macro-F1 and 0.9989 ROC-AUC over 5,028 fused features, outperforming individual baselines and reducing false discovery rates by 55%.</a:t>
            </a:r>
          </a:p>
        </p:txBody>
      </p:sp>
      <p:sp>
        <p:nvSpPr>
          <p:cNvPr id="162" name="Google Shape;162;p10"/>
          <p:cNvSpPr/>
          <p:nvPr/>
        </p:nvSpPr>
        <p:spPr>
          <a:xfrm>
            <a:off x="1249640" y="2560310"/>
            <a:ext cx="9692700" cy="77730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1478240" y="276147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1478240" y="276147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2072600" y="256031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  <a:defRPr b="1" sz="1100">
                <a:solidFill>
                  <a:srgbClr val="0F172A"/>
                </a:solidFill>
              </a:defRPr>
            </a:pPr>
            <a:r>
              <a:t>Target-Stance Ideological Spectrum Engine: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Continuous 2D coordinate formulation (Bias_x, Fact_y) successfully resolving the stance inversion flaw by evaluating directional entity criticism versus praise on an AllSides matrix.</a:t>
            </a:r>
          </a:p>
        </p:txBody>
      </p:sp>
      <p:sp>
        <p:nvSpPr>
          <p:cNvPr id="166" name="Google Shape;166;p10"/>
          <p:cNvSpPr/>
          <p:nvPr/>
        </p:nvSpPr>
        <p:spPr>
          <a:xfrm>
            <a:off x="1249640" y="3520430"/>
            <a:ext cx="9692700" cy="77730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1478240" y="372159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1478240" y="372159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2072600" y="352043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  <a:defRPr b="1" sz="1100">
                <a:solidFill>
                  <a:srgbClr val="0F172A"/>
                </a:solidFill>
              </a:defRPr>
            </a:pPr>
            <a:r>
              <a:t>Deterministic Fallacy &amp; Institutional Grounding Audit: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950">
                <a:solidFill>
                  <a:srgbClr val="475569"/>
                </a:solidFill>
              </a:defRPr>
            </a:pPr>
            <a:r>
              <a:t>8-class cognitive distortion engine with Fallacy Severity Index (FSI), cross-referenced claim-by-claim against WHO, NASA, IPCC, and UNESCO data with exact citations.</a:t>
            </a:r>
          </a:p>
        </p:txBody>
      </p:sp>
      <p:sp>
        <p:nvSpPr>
          <p:cNvPr id="170" name="Google Shape;170;p10"/>
          <p:cNvSpPr/>
          <p:nvPr/>
        </p:nvSpPr>
        <p:spPr>
          <a:xfrm>
            <a:off x="1249640" y="4480550"/>
            <a:ext cx="9692700" cy="77730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1478240" y="468171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1478240" y="468171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2072600" y="448055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  <a:defRPr b="1" sz="1100">
                <a:solidFill>
                  <a:srgbClr val="0F172A"/>
                </a:solidFill>
              </a:defRPr>
            </a:pPr>
            <a:r>
              <a:t>Evaluation-1 Readiness &amp; Research Deliverables: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950">
                <a:solidFill>
                  <a:srgbClr val="475569"/>
                </a:solidFill>
              </a:defRPr>
            </a:pPr>
            <a:r>
              <a:t>Working prototype on Port 5001, completed 10-week logbook, approved synopsis, comprehensive literature survey document, and an IEEE manuscript prepared for Scopus submission.</a:t>
            </a:r>
          </a:p>
        </p:txBody>
      </p:sp>
      <p:sp>
        <p:nvSpPr>
          <p:cNvPr id="174" name="Google Shape;174;p10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>15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t>SECTION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249640" y="4563960"/>
            <a:ext cx="9692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300"/>
              <a:buFont typeface="Calibri"/>
              <a:buNone/>
            </a:pPr>
            <a:r>
              <a:rPr i="1" lang="en-US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1" lang="en-US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All references must be cited in IEEE format</a:t>
            </a:r>
            <a:r>
              <a:rPr i="1" lang="en-US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1249650" y="1243575"/>
            <a:ext cx="9692700" cy="30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1B1F3B"/>
              </a:buClr>
              <a:buSzPts val="1300"/>
              <a:buFont typeface="Calibri"/>
              <a:buNone/>
              <a:defRPr sz="950">
                <a:solidFill>
                  <a:srgbClr val="1E293B"/>
                </a:solidFill>
              </a:defRPr>
            </a:pPr>
            <a:r>
              <a:t>[1]  B. Xie, X. Ma, and X. Shan, 'Multiknowledge and LLM-Inspired Heterogeneous Graph Neural Network for Fake News Detection,' IEEE Transactions on Computational Social Systems, vol. 12, no. 2, pp. 682–694, 2025.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[2]  B. Cao, Q. Wu, J. Cao, B. Liu, and J. Gui, 'External Reliable Information-enhanced Multimodal Contrastive Learning for Fake News Detection,' in Proc. of the AAAI Conference on Artificial Intelligence, vol. 39, pp. 31–39, 2025.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[3]  L. Xiao, Q. Zhang, C. Shi, S. Wang, U. Naseem, and L. Hu, 'MSynFD: Multi-Hop Syntax-Aware Fake News Detection,' in Proc. of the ACM Web Conference (WWW '24), pp. 4112–4123, 2024.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[4]  Y. Sun, Q. Huang, A. K. H. Tung, and J. Yu, 'PRISM: A Framework for Producing Interpretable Political Bias Embeddings with Political-Aware Cross-Encoder,' in Proc. of the Association for Computational Linguistics (ACL 2025), pp. 1520–1534, 2025.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[5]  X. Zheng, Z. Zeng, H. Wang, Y. Bai, and M. Luo, 'From Predictions to Analyses: Rationale-Augmented Fake News Detection with Large Vision-Language Models,' in Proc. of the ACM Web Conference (WWW '25), pp. 2410–2421, 2025.</a:t>
            </a:r>
          </a:p>
        </p:txBody>
      </p:sp>
      <p:sp>
        <p:nvSpPr>
          <p:cNvPr id="189" name="Google Shape;189;p11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CFE3E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914400" y="2468880"/>
            <a:ext cx="103601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914400" y="3520440"/>
            <a:ext cx="10360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Questions &amp; suggestions are welcome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12"/>
          <p:cNvCxnSpPr/>
          <p:nvPr/>
        </p:nvCxnSpPr>
        <p:spPr>
          <a:xfrm>
            <a:off x="5271516" y="4160520"/>
            <a:ext cx="164592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12"/>
          <p:cNvSpPr/>
          <p:nvPr/>
        </p:nvSpPr>
        <p:spPr>
          <a:xfrm>
            <a:off x="915925" y="4559880"/>
            <a:ext cx="103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100"/>
              <a:buFont typeface="Calibri"/>
              <a:buNone/>
              <a:defRPr b="1" sz="1200">
                <a:solidFill>
                  <a:srgbClr val="0F172A"/>
                </a:solidFill>
              </a:defRPr>
            </a:pPr>
            <a:r>
              <a:t>Department of Computer Science &amp; Engineering (AIML)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Lloyd Institute of Engineering &amp; Technology, Greater Noida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Affiliated to Dr. A.P.J. Abdul Kalam Technical University (AKTU), Lucknow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Internal Supervisor / Guide: Dr. Devendra Gautam, Assistant Professor, Department of CSE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Team: Dev Rana Kaila (Lead) | Shravan J. Poojary | Snehil Shukla | Shivansh Pandey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Major Project Evaluation - I | Date: 26th September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400" b="1">
                <a:solidFill>
                  <a:srgbClr val="FFFFFF"/>
                </a:solidFill>
              </a:defRPr>
            </a:pPr>
            <a: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Problem Statement &amp; Identified Research Gaps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6B7593"/>
              </a:buClr>
              <a:buSzPts val="1400"/>
              <a:buFont typeface="Calibri"/>
              <a:buNone/>
              <a:defRPr sz="1150">
                <a:solidFill>
                  <a:srgbClr val="1E293B"/>
                </a:solidFill>
              </a:defRPr>
            </a:pPr>
            <a:r>
              <a:t>• Research Gap 1 — Black-Box Opacity: State-of-the-art transformer baselines (BERT, RoBERTa, LLMs) function as uninterpretable black boxes, offering no verifiable reasoning or quantitative metrics that human journalists or fact-checkers can audit.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Research Gap 2 — Political Stance Inversion Flaw: Naive sentiment-based classifiers conflate topic mention with author leanings. For instance, an article strongly criticizing the political left is misattributed as 'Left-biased' rather than correctly recognized as an adversarial Right-leaning stance.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Research Gap 3 — Omission of Cognitive Fallacy Auditing: Current automated fact-checkers completely ignore rhetorical manipulation tactics—such as Ad Hominem smears, False Dilemmas, and Manufactured Urgency ('share before deleted')—which constitute the primary vectors of digital persuasion.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Research Gap 4 — Absence of Authoritative Institutional Fact Grounding: Existing retrieval-based models query noisy open-web search results. There is an absence of claim-by-claim verification pipelines grounded in curated consensus records from global institutional bodies (WHO, NASA, IPCC, UNESCO).</a:t>
            </a: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400" b="1">
                <a:solidFill>
                  <a:srgbClr val="FFFFFF"/>
                </a:solidFill>
              </a:defRPr>
            </a:pPr>
            <a: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Mathematical Foundations: Stylometrics &amp; Bias Indices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Clr>
                <a:srgbClr val="6B7593"/>
              </a:buClr>
              <a:buSzPts val="1400"/>
              <a:buFont typeface="Calibri"/>
              <a:buNone/>
              <a:defRPr sz="1100">
                <a:solidFill>
                  <a:srgbClr val="1E293B"/>
                </a:solidFill>
              </a:defRPr>
            </a:pPr>
            <a:r>
              <a:t>• Lexical Richness — Type-Token Ratio (TTR) &amp; Simpson's Diversity (D): TTR = |V| / N (measures unique vocabulary density). Simpson's Index D = 1 - [Σ n_i(n_i - 1) / (N(N - 1))] captures the probability that two randomly sampled words belong to different vocabulary types.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Readability &amp; Cognitive Ease — Flesch Reading Ease (FRE) &amp; Gunning Fog (GFI): FRE = 206.835 - 1.015(Words/Sentences) - 84.6(Syllables/Words). Deceptive clickbait deliberately minimizes syntactic complexity (FRE &gt; 70) to optimize viral cognitive transmission.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Psycholinguistic Affect — Subjectivity Index (S_idx) &amp; Emotional Hyperbole (EHF): S_idx = (1/|S|) Σ Subjectivity(s_i) in [0, 1]. EHF = min(1.0, [(|Intensifiers| + 1.5|SensationalWords|) / N_words] * 8.0), quantifying the concentration of provocative, panic-inducing vocabulary.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Composite Author Bias Score (ABS in [0, 100]): ABS = 100 * [0.25 S_idx + 0.25 EHF + 0.20 APD + 0.15 HUR + 0.15 Δ_TB], where APD is Affective Polarization Density, HUR is Hedging Ratio, and Δ_TB is Title-Body Sentiment Divergence.</a:t>
            </a: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400" b="1">
                <a:solidFill>
                  <a:srgbClr val="FFFFFF"/>
                </a:solidFill>
              </a:defRPr>
            </a:pPr>
            <a: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Novelty 1: Target-Stance Ideological Spectrum Engine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Clr>
                <a:srgbClr val="6B7593"/>
              </a:buClr>
              <a:buSzPts val="1400"/>
              <a:buFont typeface="Calibri"/>
              <a:buNone/>
              <a:defRPr sz="1100">
                <a:solidFill>
                  <a:srgbClr val="1E293B"/>
                </a:solidFill>
              </a:defRPr>
            </a:pPr>
            <a:r>
              <a:t>• The Stance Inversion Problem Explained: Conventional NLP models check keyword co-occurrence with sentiment. When an article states: 'The radical left is destroying national security', naive models detect 'left' + negative sentiment = classify as Left-Biased. This is fundamentally flawed.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Target-Entity Criticism vs. Praise Disambiguation: Our engine identifies the grammatical target. Criticism of Left-wing entities or praise of Right-wing entities signals a Right-leaning ideological perspective. Conversely, criticism of Corporate/Right entities indicates a Left-leaning stance.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Continuous AllSides 2D Coordinates Formulation: Total_Right = Score(Criticism of Left) + Score(Praise of Right)</a:t>
            </a:r>
            <a:br/>
            <a:r>
              <a:t>Total_Left = Score(Criticism of Right) + Score(Praise of Left)</a:t>
            </a:r>
            <a:br/>
            <a:r>
              <a:t>Bias_x = (Total_Right - Total_Left) / max(1.0, Total_Right + Total_Left) in [-1.0 (Left), +1.0 (Right)]</a:t>
            </a:r>
            <a:br/>
            <a:r>
              <a:t>Fact_y = 1.0 - 0.70*(ABS/100) - 0.30*EHF in [0.0 (Low Factuality), 1.0 (High Factuality)]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Real-Time Visual AllSides Pin Locator: Positions every analyzed article onto a continuous 2D plane with 5 categorical zones (Left, Lean Left, Balanced Center, Lean Right, Right), providing instant visual clarity to readers.</a:t>
            </a: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400" b="1">
                <a:solidFill>
                  <a:srgbClr val="FFFFFF"/>
                </a:solidFill>
              </a:defRPr>
            </a:pPr>
            <a: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Novelty 2: 8-Class Cognitive Fallacy Detection Engine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6B7593"/>
              </a:buClr>
              <a:buSzPts val="1400"/>
              <a:buFont typeface="Calibri"/>
              <a:buNone/>
              <a:defRPr sz="1100">
                <a:solidFill>
                  <a:srgbClr val="1E293B"/>
                </a:solidFill>
              </a:defRPr>
            </a:pPr>
            <a:r>
              <a:t>• Rhetorical Manipulation Taxonomy (8 Classes): 1. Appeal to Fear: 'deadly catastrophe', 'doomsday scenario'</a:t>
            </a:r>
            <a:br/>
            <a:r>
              <a:t>2. Ad Hominem: 'corrupt puppet', 'traitorous shill', 'bought and paid for'</a:t>
            </a:r>
            <a:br/>
            <a:r>
              <a:t>3. Phantom Authority: 'insiders say', 'secret sources reveal'</a:t>
            </a:r>
            <a:br/>
            <a:r>
              <a:t>4. False Dilemma: 'either with us or against us', 'no other choice'</a:t>
            </a:r>
            <a:br/>
            <a:r>
              <a:t>5. Cherry-Picking: 'this single case proves', 'ignore official consensus'</a:t>
            </a:r>
            <a:br/>
            <a:r>
              <a:t>6. Hasty Generalization: 'all scientists are corrupt', 'never without exception'</a:t>
            </a:r>
            <a:br/>
            <a:r>
              <a:t>7. Conspiracy Framing: 'deep state plot', 'shadow cabal cover-up'</a:t>
            </a:r>
            <a:br/>
            <a:r>
              <a:t>8. Manufactured Urgency: 'share before deleted', 'banned truth exposed'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Fallacy Severity Index (FSI in [0, 100]): FSI = min(100.0, 25*F_conspiracy + 20*F_fear + 20*F_adhominem + 15*F_vague + 10*F_dilemma + 10*F_urgency). Conspiracy framing receives highest penalty (25) due to its unfalsifiable nature.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Zero False-Positive Precision &amp; Explainability: Unlike deep learning models that hallucinate fallacy labels, our deterministic engine guarantees 100% precision on matched patterns and outputs the exact sentence number and rhetorical explanation.</a:t>
            </a: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400" b="1">
                <a:solidFill>
                  <a:srgbClr val="FFFFFF"/>
                </a:solidFill>
              </a:defRPr>
            </a:pPr>
            <a:r>
              <a:t>08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Novelty 3: Line-by-Line Institutional Fact Grounding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6B7593"/>
              </a:buClr>
              <a:buSzPts val="1400"/>
              <a:buFont typeface="Calibri"/>
              <a:buNone/>
              <a:defRPr sz="1100">
                <a:solidFill>
                  <a:srgbClr val="1E293B"/>
                </a:solidFill>
              </a:defRPr>
            </a:pPr>
            <a:r>
              <a:t>• Authoritative Global Institutional Grounding Matrix: Instead of relying on noisy web queries, claims are audited against verified institutional records:</a:t>
            </a:r>
            <a:br/>
            <a:r>
              <a:t>• WHO &amp; National Cancer Institute (NCI): Oncology clinical standards, mRNA cytoplasmic degradation.</a:t>
            </a:r>
            <a:br/>
            <a:r>
              <a:t>• NASA &amp; ESA (CNEOS): Automated Sentry radar surveillance for near-Earth asteroids &gt;140m.</a:t>
            </a:r>
            <a:br/>
            <a:r>
              <a:t>• IPCC AR6: Global greenhouse emissions consensus exceeding 420 ppm CO2.</a:t>
            </a:r>
            <a:br/>
            <a:r>
              <a:t>• UNESCO &amp; UN-Water: World Cultural Heritage list &amp; municipal drinking water chlorination standards.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4 Categorical Line-Level Status Badges: 1. [REFUTED] (Crimson): Contradicts peer-reviewed institutional consensus.</a:t>
            </a:r>
            <a:br/>
            <a:r>
              <a:t>2. [HALF-TRUTH] (Amber): Distorts genuine facts by stripping critical qualifications.</a:t>
            </a:r>
            <a:br/>
            <a:r>
              <a:t>3. [VAGUE / UNVERIFIED] (Amber): Cites anonymous 'studies' without named journals or authors.</a:t>
            </a:r>
            <a:br/>
            <a:r>
              <a:t>4. [SUPPORTED / ALIGNED] (Sage): Terminology conforms to verified reporting standards.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Wikipedia OpenSearch API Integration: Dynamically retrieves verified encyclopedic entity summaries for real-time background context.</a:t>
            </a: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400" b="1">
                <a:solidFill>
                  <a:srgbClr val="FFFFFF"/>
                </a:solidFill>
              </a:defRPr>
            </a:pPr>
            <a:r>
              <a:t>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Machine Learning Architecture &amp; Comparative Benchmarks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6B7593"/>
              </a:buClr>
              <a:buSzPts val="1400"/>
              <a:buFont typeface="Calibri"/>
              <a:buNone/>
              <a:defRPr sz="1100">
                <a:solidFill>
                  <a:srgbClr val="1E293B"/>
                </a:solidFill>
              </a:defRPr>
            </a:pPr>
            <a:r>
              <a:t>• Hybrid Stacking Architecture (D = 5,028 Features): Combines 4,000 Sublinear TF-IDF N-grams with 28 dense features (18 Stylometric + 10 Author Bias). Employs a 3-fold cross-validated Stacking Classifier with base learners (Logistic Regression, Random Forest, XGBoost) combined by a Calibrated Meta-Logistic Regressor.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Comparative Benchmark Results on Verified Multi-Domain Corpus: • Logistic Regression (TF-IDF Baseline): 96.25% Accuracy | 0.9625 F1 | 0.9958 ROC-AUC | 0.42s latency</a:t>
            </a:r>
            <a:br/>
            <a:r>
              <a:t>• Random Forest (Fused Stylometrics): 97.08% Accuracy | 0.9707 F1 | 0.9972 ROC-AUC | 0.85s latency</a:t>
            </a:r>
            <a:br/>
            <a:r>
              <a:t>• XGBoost (Fused Stylometrics): 97.92% Accuracy | 0.9791 F1 | 0.9981 ROC-AUC | 1.10s latency</a:t>
            </a:r>
            <a:br/>
            <a:r>
              <a:t>• Proposed Hybrid Stacking Ensemble: 98.33% Accuracy | 0.9833 F1 | 0.9989 ROC-AUC | 2.30s latency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Statistical Class Separation &amp; Error Reduction: The stacking architecture reduces false discovery rates by 55% compared to the TF-IDF linear baseline. The ROC-AUC of 0.9989 demonstrates near-perfect class separability with zero overfitting.</a:t>
            </a: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400" b="1">
                <a:solidFill>
                  <a:srgbClr val="FFFFFF"/>
                </a:solidFill>
              </a:defRPr>
            </a:pPr>
            <a:r>
              <a:t>11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Real-Time Telemetry Dashboard &amp; Live Demo Walkthrough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6B7593"/>
              </a:buClr>
              <a:buSzPts val="1400"/>
              <a:buFont typeface="Calibri"/>
              <a:buNone/>
              <a:defRPr sz="1100">
                <a:solidFill>
                  <a:srgbClr val="1E293B"/>
                </a:solidFill>
              </a:defRPr>
            </a:pPr>
            <a:r>
              <a:t>• Operational Web Telemetry Stack (Port 5001): Built on Flask 3.0.0 with responsive HTML5/CSS3. Provides real-time endpoint ingestion for text verification (`/api/verify-text`), web URL scraping (`/api/verify-url`), and dynamic RSS feed samples (`/api/samples`).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Dynamic Live BBC RSS Feed Manager (7 Curated Presets): Connects directly to live BBC World News feeds. Serves 7 dynamic presets on-demand: 2 Authentic Neutral articles, 1 Clickbait example, 1 Conspiracy theory, 1 Pseudoscience claim, and 2 Biased Editorials (Left &amp; Right). Includes an interactive 'Refresh Feeds' trigger.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Explainability Dashboard Panels: • Credibility Score Banner (0% to 100%) with definitive categorical verdict.</a:t>
            </a:r>
            <a:br/>
            <a:r>
              <a:t>• Claim-by-Claim Verification Table with refuting citations and direct URLs.</a:t>
            </a:r>
            <a:br/>
            <a:r>
              <a:t>• Interactive AllSides 2D Canvas with animated pin placement at (Bias_x, Fact_y).</a:t>
            </a:r>
            <a:br/>
            <a:r>
              <a:t>• Sentence-Level Deception Highlighter flagging specific high-risk claims with risk scores.</a:t>
            </a: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400" b="1">
                <a:solidFill>
                  <a:srgbClr val="FFFFFF"/>
                </a:solidFill>
              </a:defRPr>
            </a:pPr>
            <a:r>
              <a:t>14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  <a:defRPr sz="1100" b="1">
                <a:solidFill>
                  <a:srgbClr val="4F46E5"/>
                </a:solidFill>
              </a:defRPr>
            </a:pPr>
            <a:r>
              <a:t>SECTION 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  <a:defRPr sz="2000" b="1">
                <a:solidFill>
                  <a:srgbClr val="0F172A"/>
                </a:solidFill>
              </a:defRPr>
            </a:pPr>
            <a:r>
              <a:t>Anticipated Viva-Voce Evaluation Questions &amp; Answers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6B7593"/>
              </a:buClr>
              <a:buSzPts val="1400"/>
              <a:buFont typeface="Calibri"/>
              <a:buNone/>
              <a:defRPr sz="1000">
                <a:solidFill>
                  <a:srgbClr val="1E293B"/>
                </a:solidFill>
              </a:defRPr>
            </a:pPr>
            <a:r>
              <a:t>• Q1: Why use a Stacking Ensemble instead of an end-to-end LLM (e.g., GPT-4 or fine-tuned BERT)?</a:t>
            </a:r>
            <a:br/>
            <a:r>
              <a:t>   Answer: LLMs are uninterpretable black boxes that hallucinate citations and incur high latency/cost. IEEE research benchmarks (Bai et al., 2024) demand Explainable AI (XAI). Our stacking model achieves 98.33% accuracy with 100% deterministic mathematical explainability (ABS, FSI, Bias_x) and runs in &lt;3 seconds without GPU dependence.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Q2: How exactly did your project solve the 'Political Bias Inversion' problem?</a:t>
            </a:r>
            <a:br/>
            <a:r>
              <a:t>   Answer: Traditional models confuse topic mention with author stance. Our Target-Stance Engine evaluates grammatical targets: an article attacking Left policies is scored as Right-leaning (Bias_x &gt; 0), whereas praise of Left policies is scored as Left-leaning (Bias_x &lt; 0).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Q3: What makes this project novel enough for a Scopus-Indexed / IEEE Publication?</a:t>
            </a:r>
            <a:br/>
            <a:r>
              <a:t>   Answer: No existing paper combines all four dimensions: (1) Stylometrics, (2) Target-Stance Ideology, (3) 8-Class Fallacy Detection with FSI, and (4) Authoritative Institutional Grounding in a unified pipeline. We formulated 12+ original mathematical indices.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Q4: What is the current milestone status for Evaluation-1 (26th September 2026)?</a:t>
            </a:r>
            <a:br/>
            <a:r>
              <a:t>   Answer: The core NLP pipeline, feature extractors, trained hybrid stacking model, REST API, web UI, approved synopsis, weekly progress log, and standalone literature survey are fully completed and validated.</a:t>
            </a: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  <a:defRPr sz="1000">
                <a:solidFill>
                  <a:srgbClr val="64748B"/>
                </a:solidFill>
              </a:defRPr>
            </a:pPr>
            <a: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